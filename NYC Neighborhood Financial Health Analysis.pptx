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4" r:id="rId1"/>
  </p:sldMasterIdLst>
  <p:sldIdLst>
    <p:sldId id="256" r:id="rId2"/>
    <p:sldId id="257" r:id="rId3"/>
    <p:sldId id="266" r:id="rId4"/>
    <p:sldId id="267" r:id="rId5"/>
    <p:sldId id="258" r:id="rId6"/>
    <p:sldId id="268" r:id="rId7"/>
    <p:sldId id="271" r:id="rId8"/>
    <p:sldId id="273" r:id="rId9"/>
    <p:sldId id="259" r:id="rId10"/>
    <p:sldId id="260" r:id="rId11"/>
    <p:sldId id="262" r:id="rId12"/>
    <p:sldId id="263" r:id="rId13"/>
    <p:sldId id="264" r:id="rId14"/>
    <p:sldId id="274" r:id="rId15"/>
    <p:sldId id="27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67"/>
    <p:restoredTop sz="91427"/>
  </p:normalViewPr>
  <p:slideViewPr>
    <p:cSldViewPr snapToGrid="0" snapToObjects="1">
      <p:cViewPr varScale="1">
        <p:scale>
          <a:sx n="115" d="100"/>
          <a:sy n="115" d="100"/>
        </p:scale>
        <p:origin x="1528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1D8F77F-754F-4F4E-BCEC-7347046235B5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CFD5DF6-FB61-4555-B946-8463FDC23759}">
      <dgm:prSet/>
      <dgm:spPr/>
      <dgm:t>
        <a:bodyPr/>
        <a:lstStyle/>
        <a:p>
          <a:r>
            <a:rPr lang="en-US"/>
            <a:t>Dataset: Neighborhood Financial Health Digital Mapping and Data Tool</a:t>
          </a:r>
        </a:p>
      </dgm:t>
    </dgm:pt>
    <dgm:pt modelId="{D763776B-DCAC-4902-921B-39488AE98B2B}" type="parTrans" cxnId="{D69BE376-4158-4EA7-AAC8-11D8747F7A6D}">
      <dgm:prSet/>
      <dgm:spPr/>
      <dgm:t>
        <a:bodyPr/>
        <a:lstStyle/>
        <a:p>
          <a:endParaRPr lang="en-US"/>
        </a:p>
      </dgm:t>
    </dgm:pt>
    <dgm:pt modelId="{FF6A0F74-EBFF-4CFE-8494-AD1E385B237A}" type="sibTrans" cxnId="{D69BE376-4158-4EA7-AAC8-11D8747F7A6D}">
      <dgm:prSet/>
      <dgm:spPr/>
      <dgm:t>
        <a:bodyPr/>
        <a:lstStyle/>
        <a:p>
          <a:endParaRPr lang="en-US"/>
        </a:p>
      </dgm:t>
    </dgm:pt>
    <dgm:pt modelId="{135DC503-0BD0-49FB-BF49-A3D21E8B1513}">
      <dgm:prSet/>
      <dgm:spPr/>
      <dgm:t>
        <a:bodyPr/>
        <a:lstStyle/>
        <a:p>
          <a:r>
            <a:rPr lang="en-US" dirty="0"/>
            <a:t>52 columns, 386 rows</a:t>
          </a:r>
        </a:p>
      </dgm:t>
    </dgm:pt>
    <dgm:pt modelId="{39C0ADFD-1664-40B4-9039-1ACE7B93570D}" type="parTrans" cxnId="{246728A4-6512-4518-87FE-093F080087BE}">
      <dgm:prSet/>
      <dgm:spPr/>
      <dgm:t>
        <a:bodyPr/>
        <a:lstStyle/>
        <a:p>
          <a:endParaRPr lang="en-US"/>
        </a:p>
      </dgm:t>
    </dgm:pt>
    <dgm:pt modelId="{1D44E27C-2B5F-426D-84F7-58D9E617D981}" type="sibTrans" cxnId="{246728A4-6512-4518-87FE-093F080087BE}">
      <dgm:prSet/>
      <dgm:spPr/>
      <dgm:t>
        <a:bodyPr/>
        <a:lstStyle/>
        <a:p>
          <a:endParaRPr lang="en-US"/>
        </a:p>
      </dgm:t>
    </dgm:pt>
    <dgm:pt modelId="{6EE70DC7-26E3-4B08-92BD-0E8446A04AEC}">
      <dgm:prSet/>
      <dgm:spPr/>
      <dgm:t>
        <a:bodyPr/>
        <a:lstStyle/>
        <a:p>
          <a:r>
            <a:rPr lang="en-US" dirty="0"/>
            <a:t>poverty rates, various financial health indicators, demographics, median incomes, and social indicators.</a:t>
          </a:r>
        </a:p>
      </dgm:t>
    </dgm:pt>
    <dgm:pt modelId="{2FD1E6D2-9EFB-452A-A477-CA81273C63EE}" type="parTrans" cxnId="{2E883498-F5A3-4E65-86C2-AF6F10313495}">
      <dgm:prSet/>
      <dgm:spPr/>
      <dgm:t>
        <a:bodyPr/>
        <a:lstStyle/>
        <a:p>
          <a:endParaRPr lang="en-US"/>
        </a:p>
      </dgm:t>
    </dgm:pt>
    <dgm:pt modelId="{A148176D-2015-4D81-91B6-1C89B814C8F9}" type="sibTrans" cxnId="{2E883498-F5A3-4E65-86C2-AF6F10313495}">
      <dgm:prSet/>
      <dgm:spPr/>
      <dgm:t>
        <a:bodyPr/>
        <a:lstStyle/>
        <a:p>
          <a:endParaRPr lang="en-US"/>
        </a:p>
      </dgm:t>
    </dgm:pt>
    <dgm:pt modelId="{55C142CC-8BC9-DC49-A758-E94BFB4B663C}" type="pres">
      <dgm:prSet presAssocID="{81D8F77F-754F-4F4E-BCEC-7347046235B5}" presName="linear" presStyleCnt="0">
        <dgm:presLayoutVars>
          <dgm:animLvl val="lvl"/>
          <dgm:resizeHandles val="exact"/>
        </dgm:presLayoutVars>
      </dgm:prSet>
      <dgm:spPr/>
    </dgm:pt>
    <dgm:pt modelId="{2A965A48-4264-8046-AD8A-11CF63D5B027}" type="pres">
      <dgm:prSet presAssocID="{8CFD5DF6-FB61-4555-B946-8463FDC2375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111B7CF-43BF-0F45-B45F-5E59CB4FC549}" type="pres">
      <dgm:prSet presAssocID="{FF6A0F74-EBFF-4CFE-8494-AD1E385B237A}" presName="spacer" presStyleCnt="0"/>
      <dgm:spPr/>
    </dgm:pt>
    <dgm:pt modelId="{CDDB2334-420C-5E4E-8804-8951C73F885C}" type="pres">
      <dgm:prSet presAssocID="{135DC503-0BD0-49FB-BF49-A3D21E8B151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C249CD8-8034-D144-82C0-7B5A23CA130C}" type="pres">
      <dgm:prSet presAssocID="{1D44E27C-2B5F-426D-84F7-58D9E617D981}" presName="spacer" presStyleCnt="0"/>
      <dgm:spPr/>
    </dgm:pt>
    <dgm:pt modelId="{803A3CEB-E8CC-564E-BED8-C538C658AB25}" type="pres">
      <dgm:prSet presAssocID="{6EE70DC7-26E3-4B08-92BD-0E8446A04AEC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D081724D-94AD-A14E-A148-302DE001751E}" type="presOf" srcId="{6EE70DC7-26E3-4B08-92BD-0E8446A04AEC}" destId="{803A3CEB-E8CC-564E-BED8-C538C658AB25}" srcOrd="0" destOrd="0" presId="urn:microsoft.com/office/officeart/2005/8/layout/vList2"/>
    <dgm:cxn modelId="{D69BE376-4158-4EA7-AAC8-11D8747F7A6D}" srcId="{81D8F77F-754F-4F4E-BCEC-7347046235B5}" destId="{8CFD5DF6-FB61-4555-B946-8463FDC23759}" srcOrd="0" destOrd="0" parTransId="{D763776B-DCAC-4902-921B-39488AE98B2B}" sibTransId="{FF6A0F74-EBFF-4CFE-8494-AD1E385B237A}"/>
    <dgm:cxn modelId="{42238991-09A9-A949-9A7B-75C0F7EFF7D9}" type="presOf" srcId="{81D8F77F-754F-4F4E-BCEC-7347046235B5}" destId="{55C142CC-8BC9-DC49-A758-E94BFB4B663C}" srcOrd="0" destOrd="0" presId="urn:microsoft.com/office/officeart/2005/8/layout/vList2"/>
    <dgm:cxn modelId="{3BB97F96-F8F4-A747-9B72-26EECFF4C719}" type="presOf" srcId="{135DC503-0BD0-49FB-BF49-A3D21E8B1513}" destId="{CDDB2334-420C-5E4E-8804-8951C73F885C}" srcOrd="0" destOrd="0" presId="urn:microsoft.com/office/officeart/2005/8/layout/vList2"/>
    <dgm:cxn modelId="{2E883498-F5A3-4E65-86C2-AF6F10313495}" srcId="{81D8F77F-754F-4F4E-BCEC-7347046235B5}" destId="{6EE70DC7-26E3-4B08-92BD-0E8446A04AEC}" srcOrd="2" destOrd="0" parTransId="{2FD1E6D2-9EFB-452A-A477-CA81273C63EE}" sibTransId="{A148176D-2015-4D81-91B6-1C89B814C8F9}"/>
    <dgm:cxn modelId="{1692359D-040E-524D-87D7-3CC1FCE6ED30}" type="presOf" srcId="{8CFD5DF6-FB61-4555-B946-8463FDC23759}" destId="{2A965A48-4264-8046-AD8A-11CF63D5B027}" srcOrd="0" destOrd="0" presId="urn:microsoft.com/office/officeart/2005/8/layout/vList2"/>
    <dgm:cxn modelId="{246728A4-6512-4518-87FE-093F080087BE}" srcId="{81D8F77F-754F-4F4E-BCEC-7347046235B5}" destId="{135DC503-0BD0-49FB-BF49-A3D21E8B1513}" srcOrd="1" destOrd="0" parTransId="{39C0ADFD-1664-40B4-9039-1ACE7B93570D}" sibTransId="{1D44E27C-2B5F-426D-84F7-58D9E617D981}"/>
    <dgm:cxn modelId="{A6E62543-F851-4E4A-AB63-B3016E1FAF9F}" type="presParOf" srcId="{55C142CC-8BC9-DC49-A758-E94BFB4B663C}" destId="{2A965A48-4264-8046-AD8A-11CF63D5B027}" srcOrd="0" destOrd="0" presId="urn:microsoft.com/office/officeart/2005/8/layout/vList2"/>
    <dgm:cxn modelId="{40D8C2A4-A318-5A4E-B2CD-F3027BC666B4}" type="presParOf" srcId="{55C142CC-8BC9-DC49-A758-E94BFB4B663C}" destId="{D111B7CF-43BF-0F45-B45F-5E59CB4FC549}" srcOrd="1" destOrd="0" presId="urn:microsoft.com/office/officeart/2005/8/layout/vList2"/>
    <dgm:cxn modelId="{EC89D9AF-82CF-2849-8D86-84DAEC9DA059}" type="presParOf" srcId="{55C142CC-8BC9-DC49-A758-E94BFB4B663C}" destId="{CDDB2334-420C-5E4E-8804-8951C73F885C}" srcOrd="2" destOrd="0" presId="urn:microsoft.com/office/officeart/2005/8/layout/vList2"/>
    <dgm:cxn modelId="{3342E809-A6BB-4A43-BCE7-F65E4CC0E6AA}" type="presParOf" srcId="{55C142CC-8BC9-DC49-A758-E94BFB4B663C}" destId="{9C249CD8-8034-D144-82C0-7B5A23CA130C}" srcOrd="3" destOrd="0" presId="urn:microsoft.com/office/officeart/2005/8/layout/vList2"/>
    <dgm:cxn modelId="{C2FAD77F-1032-194C-A02F-BEFD9B6886B8}" type="presParOf" srcId="{55C142CC-8BC9-DC49-A758-E94BFB4B663C}" destId="{803A3CEB-E8CC-564E-BED8-C538C658AB25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6891D70-61C1-449B-9588-24585F53E81D}" type="doc">
      <dgm:prSet loTypeId="urn:microsoft.com/office/officeart/2005/8/layout/hierarchy3" loCatId="hierarchy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ED3CE4F7-2D44-48F9-A752-6757FFA1BA53}">
      <dgm:prSet/>
      <dgm:spPr/>
      <dgm:t>
        <a:bodyPr/>
        <a:lstStyle/>
        <a:p>
          <a:pPr algn="l"/>
          <a:r>
            <a:rPr lang="en-US" dirty="0"/>
            <a:t>▪ How do </a:t>
          </a:r>
          <a:r>
            <a:rPr lang="en-US" dirty="0" err="1"/>
            <a:t>IndexScores</a:t>
          </a:r>
          <a:r>
            <a:rPr lang="en-US" dirty="0"/>
            <a:t> vary across NYC boroughs and neighborhoods?</a:t>
          </a:r>
        </a:p>
      </dgm:t>
    </dgm:pt>
    <dgm:pt modelId="{1CA2FA53-99BB-4D1B-85D5-52B009ACD1D2}" type="parTrans" cxnId="{E3E3A7EB-3313-4830-953C-5D5A0E40B6C1}">
      <dgm:prSet/>
      <dgm:spPr/>
      <dgm:t>
        <a:bodyPr/>
        <a:lstStyle/>
        <a:p>
          <a:endParaRPr lang="en-US"/>
        </a:p>
      </dgm:t>
    </dgm:pt>
    <dgm:pt modelId="{0F1BD74F-E87E-4325-A19A-DB709BECD6E0}" type="sibTrans" cxnId="{E3E3A7EB-3313-4830-953C-5D5A0E40B6C1}">
      <dgm:prSet/>
      <dgm:spPr/>
      <dgm:t>
        <a:bodyPr/>
        <a:lstStyle/>
        <a:p>
          <a:endParaRPr lang="en-US"/>
        </a:p>
      </dgm:t>
    </dgm:pt>
    <dgm:pt modelId="{958D0949-380C-43FD-97D4-F600B85772C7}">
      <dgm:prSet/>
      <dgm:spPr/>
      <dgm:t>
        <a:bodyPr/>
        <a:lstStyle/>
        <a:p>
          <a:pPr algn="l"/>
          <a:r>
            <a:rPr lang="en-US" dirty="0"/>
            <a:t>▪ Which neighborhoods in NYC have the highest and lowest financial health scores?</a:t>
          </a:r>
        </a:p>
      </dgm:t>
    </dgm:pt>
    <dgm:pt modelId="{BE6F7D78-211A-4B23-B7AF-3BF196E62F88}" type="parTrans" cxnId="{79076F83-3FDB-4F2A-94DC-62D017ED04E9}">
      <dgm:prSet/>
      <dgm:spPr/>
      <dgm:t>
        <a:bodyPr/>
        <a:lstStyle/>
        <a:p>
          <a:endParaRPr lang="en-US"/>
        </a:p>
      </dgm:t>
    </dgm:pt>
    <dgm:pt modelId="{98D8BD68-CA3C-49FE-B480-4645D6C3FC45}" type="sibTrans" cxnId="{79076F83-3FDB-4F2A-94DC-62D017ED04E9}">
      <dgm:prSet/>
      <dgm:spPr/>
      <dgm:t>
        <a:bodyPr/>
        <a:lstStyle/>
        <a:p>
          <a:endParaRPr lang="en-US"/>
        </a:p>
      </dgm:t>
    </dgm:pt>
    <dgm:pt modelId="{CFBB20F0-5C4E-054B-AE0E-FA7AD12BA6BC}" type="pres">
      <dgm:prSet presAssocID="{46891D70-61C1-449B-9588-24585F53E81D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E349C18-7CCD-E24E-8D0F-23F8B3B7BFE7}" type="pres">
      <dgm:prSet presAssocID="{ED3CE4F7-2D44-48F9-A752-6757FFA1BA53}" presName="root" presStyleCnt="0"/>
      <dgm:spPr/>
    </dgm:pt>
    <dgm:pt modelId="{323189BD-1DD8-7344-B339-CEEA913515BA}" type="pres">
      <dgm:prSet presAssocID="{ED3CE4F7-2D44-48F9-A752-6757FFA1BA53}" presName="rootComposite" presStyleCnt="0"/>
      <dgm:spPr/>
    </dgm:pt>
    <dgm:pt modelId="{5C723534-EF34-7D40-9002-4FFD36CA097B}" type="pres">
      <dgm:prSet presAssocID="{ED3CE4F7-2D44-48F9-A752-6757FFA1BA53}" presName="rootText" presStyleLbl="node1" presStyleIdx="0" presStyleCnt="2"/>
      <dgm:spPr/>
    </dgm:pt>
    <dgm:pt modelId="{27E2B921-3C55-0C47-8751-FFAE1A104529}" type="pres">
      <dgm:prSet presAssocID="{ED3CE4F7-2D44-48F9-A752-6757FFA1BA53}" presName="rootConnector" presStyleLbl="node1" presStyleIdx="0" presStyleCnt="2"/>
      <dgm:spPr/>
    </dgm:pt>
    <dgm:pt modelId="{3AC9010E-6177-1140-A232-66D9E89087AF}" type="pres">
      <dgm:prSet presAssocID="{ED3CE4F7-2D44-48F9-A752-6757FFA1BA53}" presName="childShape" presStyleCnt="0"/>
      <dgm:spPr/>
    </dgm:pt>
    <dgm:pt modelId="{4B4BE1AB-EF7F-4B47-8933-345452CA0D24}" type="pres">
      <dgm:prSet presAssocID="{958D0949-380C-43FD-97D4-F600B85772C7}" presName="root" presStyleCnt="0"/>
      <dgm:spPr/>
    </dgm:pt>
    <dgm:pt modelId="{AB1595BB-FE31-5D4A-8854-28049A51D15D}" type="pres">
      <dgm:prSet presAssocID="{958D0949-380C-43FD-97D4-F600B85772C7}" presName="rootComposite" presStyleCnt="0"/>
      <dgm:spPr/>
    </dgm:pt>
    <dgm:pt modelId="{0CDEB827-D051-BC46-A0E7-4BB2505C670D}" type="pres">
      <dgm:prSet presAssocID="{958D0949-380C-43FD-97D4-F600B85772C7}" presName="rootText" presStyleLbl="node1" presStyleIdx="1" presStyleCnt="2"/>
      <dgm:spPr/>
    </dgm:pt>
    <dgm:pt modelId="{532C4D36-73B5-5043-B6C7-A42D5DE2768B}" type="pres">
      <dgm:prSet presAssocID="{958D0949-380C-43FD-97D4-F600B85772C7}" presName="rootConnector" presStyleLbl="node1" presStyleIdx="1" presStyleCnt="2"/>
      <dgm:spPr/>
    </dgm:pt>
    <dgm:pt modelId="{FE27F5CA-36A4-6A42-B8F4-A1A12FE23FA0}" type="pres">
      <dgm:prSet presAssocID="{958D0949-380C-43FD-97D4-F600B85772C7}" presName="childShape" presStyleCnt="0"/>
      <dgm:spPr/>
    </dgm:pt>
  </dgm:ptLst>
  <dgm:cxnLst>
    <dgm:cxn modelId="{6508643B-F5A6-D342-9934-B47E9D467C58}" type="presOf" srcId="{ED3CE4F7-2D44-48F9-A752-6757FFA1BA53}" destId="{27E2B921-3C55-0C47-8751-FFAE1A104529}" srcOrd="1" destOrd="0" presId="urn:microsoft.com/office/officeart/2005/8/layout/hierarchy3"/>
    <dgm:cxn modelId="{7C0D2779-8608-1948-99C8-6F3B1E0CE754}" type="presOf" srcId="{ED3CE4F7-2D44-48F9-A752-6757FFA1BA53}" destId="{5C723534-EF34-7D40-9002-4FFD36CA097B}" srcOrd="0" destOrd="0" presId="urn:microsoft.com/office/officeart/2005/8/layout/hierarchy3"/>
    <dgm:cxn modelId="{545BA881-C5FB-544C-A254-89D844CB9BAD}" type="presOf" srcId="{958D0949-380C-43FD-97D4-F600B85772C7}" destId="{0CDEB827-D051-BC46-A0E7-4BB2505C670D}" srcOrd="0" destOrd="0" presId="urn:microsoft.com/office/officeart/2005/8/layout/hierarchy3"/>
    <dgm:cxn modelId="{79076F83-3FDB-4F2A-94DC-62D017ED04E9}" srcId="{46891D70-61C1-449B-9588-24585F53E81D}" destId="{958D0949-380C-43FD-97D4-F600B85772C7}" srcOrd="1" destOrd="0" parTransId="{BE6F7D78-211A-4B23-B7AF-3BF196E62F88}" sibTransId="{98D8BD68-CA3C-49FE-B480-4645D6C3FC45}"/>
    <dgm:cxn modelId="{DA125BAB-769F-A54F-B020-AC50FF7EA2EB}" type="presOf" srcId="{958D0949-380C-43FD-97D4-F600B85772C7}" destId="{532C4D36-73B5-5043-B6C7-A42D5DE2768B}" srcOrd="1" destOrd="0" presId="urn:microsoft.com/office/officeart/2005/8/layout/hierarchy3"/>
    <dgm:cxn modelId="{E3E3A7EB-3313-4830-953C-5D5A0E40B6C1}" srcId="{46891D70-61C1-449B-9588-24585F53E81D}" destId="{ED3CE4F7-2D44-48F9-A752-6757FFA1BA53}" srcOrd="0" destOrd="0" parTransId="{1CA2FA53-99BB-4D1B-85D5-52B009ACD1D2}" sibTransId="{0F1BD74F-E87E-4325-A19A-DB709BECD6E0}"/>
    <dgm:cxn modelId="{A3BC53F3-1F70-DF43-88DC-092B581CBD80}" type="presOf" srcId="{46891D70-61C1-449B-9588-24585F53E81D}" destId="{CFBB20F0-5C4E-054B-AE0E-FA7AD12BA6BC}" srcOrd="0" destOrd="0" presId="urn:microsoft.com/office/officeart/2005/8/layout/hierarchy3"/>
    <dgm:cxn modelId="{C3F26187-0FFC-1341-B443-69E2F38D43C7}" type="presParOf" srcId="{CFBB20F0-5C4E-054B-AE0E-FA7AD12BA6BC}" destId="{3E349C18-7CCD-E24E-8D0F-23F8B3B7BFE7}" srcOrd="0" destOrd="0" presId="urn:microsoft.com/office/officeart/2005/8/layout/hierarchy3"/>
    <dgm:cxn modelId="{47D09D1B-538F-5945-B18A-D19E893A9165}" type="presParOf" srcId="{3E349C18-7CCD-E24E-8D0F-23F8B3B7BFE7}" destId="{323189BD-1DD8-7344-B339-CEEA913515BA}" srcOrd="0" destOrd="0" presId="urn:microsoft.com/office/officeart/2005/8/layout/hierarchy3"/>
    <dgm:cxn modelId="{448DF4F2-B454-254F-867E-DC7D8FCB4CDB}" type="presParOf" srcId="{323189BD-1DD8-7344-B339-CEEA913515BA}" destId="{5C723534-EF34-7D40-9002-4FFD36CA097B}" srcOrd="0" destOrd="0" presId="urn:microsoft.com/office/officeart/2005/8/layout/hierarchy3"/>
    <dgm:cxn modelId="{928F8762-8C03-2B45-8B0D-0C26D87BAFD7}" type="presParOf" srcId="{323189BD-1DD8-7344-B339-CEEA913515BA}" destId="{27E2B921-3C55-0C47-8751-FFAE1A104529}" srcOrd="1" destOrd="0" presId="urn:microsoft.com/office/officeart/2005/8/layout/hierarchy3"/>
    <dgm:cxn modelId="{61620F65-FBE8-DC40-A8B6-3FA5E3D84FBC}" type="presParOf" srcId="{3E349C18-7CCD-E24E-8D0F-23F8B3B7BFE7}" destId="{3AC9010E-6177-1140-A232-66D9E89087AF}" srcOrd="1" destOrd="0" presId="urn:microsoft.com/office/officeart/2005/8/layout/hierarchy3"/>
    <dgm:cxn modelId="{850C721E-9DFF-9340-98E2-D3BFD0D8F2A3}" type="presParOf" srcId="{CFBB20F0-5C4E-054B-AE0E-FA7AD12BA6BC}" destId="{4B4BE1AB-EF7F-4B47-8933-345452CA0D24}" srcOrd="1" destOrd="0" presId="urn:microsoft.com/office/officeart/2005/8/layout/hierarchy3"/>
    <dgm:cxn modelId="{C6793072-3A36-CB4E-8AA2-FB791F02773F}" type="presParOf" srcId="{4B4BE1AB-EF7F-4B47-8933-345452CA0D24}" destId="{AB1595BB-FE31-5D4A-8854-28049A51D15D}" srcOrd="0" destOrd="0" presId="urn:microsoft.com/office/officeart/2005/8/layout/hierarchy3"/>
    <dgm:cxn modelId="{82880423-44B1-E440-A03B-2F3B63E80A4A}" type="presParOf" srcId="{AB1595BB-FE31-5D4A-8854-28049A51D15D}" destId="{0CDEB827-D051-BC46-A0E7-4BB2505C670D}" srcOrd="0" destOrd="0" presId="urn:microsoft.com/office/officeart/2005/8/layout/hierarchy3"/>
    <dgm:cxn modelId="{D1FCD124-B6FC-CE4B-9DF4-D0227CAB738F}" type="presParOf" srcId="{AB1595BB-FE31-5D4A-8854-28049A51D15D}" destId="{532C4D36-73B5-5043-B6C7-A42D5DE2768B}" srcOrd="1" destOrd="0" presId="urn:microsoft.com/office/officeart/2005/8/layout/hierarchy3"/>
    <dgm:cxn modelId="{F01EDABC-0DEA-F240-B5FB-8D25C607A146}" type="presParOf" srcId="{4B4BE1AB-EF7F-4B47-8933-345452CA0D24}" destId="{FE27F5CA-36A4-6A42-B8F4-A1A12FE23FA0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EE407E0-8097-4E54-943B-BC8E4BA335F8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2A4BD11-8A00-4DED-9DE3-95D93C8FAF95}">
      <dgm:prSet/>
      <dgm:spPr/>
      <dgm:t>
        <a:bodyPr/>
        <a:lstStyle/>
        <a:p>
          <a:r>
            <a:rPr lang="en-US"/>
            <a:t>Sample size</a:t>
          </a:r>
        </a:p>
      </dgm:t>
    </dgm:pt>
    <dgm:pt modelId="{8D62EED5-5D96-4DEA-BDCD-F09C2CBBD438}" type="parTrans" cxnId="{020E035B-FF2E-45EF-899B-9AB2CBB7BB8E}">
      <dgm:prSet/>
      <dgm:spPr/>
      <dgm:t>
        <a:bodyPr/>
        <a:lstStyle/>
        <a:p>
          <a:endParaRPr lang="en-US"/>
        </a:p>
      </dgm:t>
    </dgm:pt>
    <dgm:pt modelId="{D7A6792B-C959-4121-BCA1-81C09577E709}" type="sibTrans" cxnId="{020E035B-FF2E-45EF-899B-9AB2CBB7BB8E}">
      <dgm:prSet/>
      <dgm:spPr/>
      <dgm:t>
        <a:bodyPr/>
        <a:lstStyle/>
        <a:p>
          <a:endParaRPr lang="en-US"/>
        </a:p>
      </dgm:t>
    </dgm:pt>
    <dgm:pt modelId="{9212C002-DA5A-4572-A5F6-0AB0A4686B53}">
      <dgm:prSet/>
      <dgm:spPr/>
      <dgm:t>
        <a:bodyPr/>
        <a:lstStyle/>
        <a:p>
          <a:r>
            <a:rPr lang="en-US"/>
            <a:t>Other external factors</a:t>
          </a:r>
        </a:p>
      </dgm:t>
    </dgm:pt>
    <dgm:pt modelId="{B84F2EAB-EC52-4873-BB18-4065C252948E}" type="parTrans" cxnId="{D5622EFC-1939-483F-81D2-3A0DC78B26D8}">
      <dgm:prSet/>
      <dgm:spPr/>
      <dgm:t>
        <a:bodyPr/>
        <a:lstStyle/>
        <a:p>
          <a:endParaRPr lang="en-US"/>
        </a:p>
      </dgm:t>
    </dgm:pt>
    <dgm:pt modelId="{1268ACF6-1D1C-46B3-9C26-97AE0D847357}" type="sibTrans" cxnId="{D5622EFC-1939-483F-81D2-3A0DC78B26D8}">
      <dgm:prSet/>
      <dgm:spPr/>
      <dgm:t>
        <a:bodyPr/>
        <a:lstStyle/>
        <a:p>
          <a:endParaRPr lang="en-US"/>
        </a:p>
      </dgm:t>
    </dgm:pt>
    <dgm:pt modelId="{65706BCA-AC1D-6146-9AD1-9DB26851F3A4}" type="pres">
      <dgm:prSet presAssocID="{EEE407E0-8097-4E54-943B-BC8E4BA335F8}" presName="linear" presStyleCnt="0">
        <dgm:presLayoutVars>
          <dgm:dir/>
          <dgm:animLvl val="lvl"/>
          <dgm:resizeHandles val="exact"/>
        </dgm:presLayoutVars>
      </dgm:prSet>
      <dgm:spPr/>
    </dgm:pt>
    <dgm:pt modelId="{ED79EF31-8163-8F44-A775-2B0641849B8C}" type="pres">
      <dgm:prSet presAssocID="{B2A4BD11-8A00-4DED-9DE3-95D93C8FAF95}" presName="parentLin" presStyleCnt="0"/>
      <dgm:spPr/>
    </dgm:pt>
    <dgm:pt modelId="{4BF94CE1-712D-6A43-A446-33386D2DEA83}" type="pres">
      <dgm:prSet presAssocID="{B2A4BD11-8A00-4DED-9DE3-95D93C8FAF95}" presName="parentLeftMargin" presStyleLbl="node1" presStyleIdx="0" presStyleCnt="2"/>
      <dgm:spPr/>
    </dgm:pt>
    <dgm:pt modelId="{B9033B5E-1913-C94D-928A-3C38191064D7}" type="pres">
      <dgm:prSet presAssocID="{B2A4BD11-8A00-4DED-9DE3-95D93C8FAF9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C50BD12F-B71A-2448-AA69-D0FC0DEC8ADB}" type="pres">
      <dgm:prSet presAssocID="{B2A4BD11-8A00-4DED-9DE3-95D93C8FAF95}" presName="negativeSpace" presStyleCnt="0"/>
      <dgm:spPr/>
    </dgm:pt>
    <dgm:pt modelId="{49F46683-4A6C-EE48-93FD-47D788167604}" type="pres">
      <dgm:prSet presAssocID="{B2A4BD11-8A00-4DED-9DE3-95D93C8FAF95}" presName="childText" presStyleLbl="conFgAcc1" presStyleIdx="0" presStyleCnt="2">
        <dgm:presLayoutVars>
          <dgm:bulletEnabled val="1"/>
        </dgm:presLayoutVars>
      </dgm:prSet>
      <dgm:spPr/>
    </dgm:pt>
    <dgm:pt modelId="{FD2A332F-FEBA-D247-A50E-AD6820B37075}" type="pres">
      <dgm:prSet presAssocID="{D7A6792B-C959-4121-BCA1-81C09577E709}" presName="spaceBetweenRectangles" presStyleCnt="0"/>
      <dgm:spPr/>
    </dgm:pt>
    <dgm:pt modelId="{5318B02F-B7F4-6A4E-850D-1CC790FBD65B}" type="pres">
      <dgm:prSet presAssocID="{9212C002-DA5A-4572-A5F6-0AB0A4686B53}" presName="parentLin" presStyleCnt="0"/>
      <dgm:spPr/>
    </dgm:pt>
    <dgm:pt modelId="{A6FBC667-EE29-A84C-B828-BCF3FF9EE2B7}" type="pres">
      <dgm:prSet presAssocID="{9212C002-DA5A-4572-A5F6-0AB0A4686B53}" presName="parentLeftMargin" presStyleLbl="node1" presStyleIdx="0" presStyleCnt="2"/>
      <dgm:spPr/>
    </dgm:pt>
    <dgm:pt modelId="{931BEF24-B73D-B44E-A1E4-95F168B54348}" type="pres">
      <dgm:prSet presAssocID="{9212C002-DA5A-4572-A5F6-0AB0A4686B53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E3C6AEF9-8824-ED48-96AB-78328C6D35A7}" type="pres">
      <dgm:prSet presAssocID="{9212C002-DA5A-4572-A5F6-0AB0A4686B53}" presName="negativeSpace" presStyleCnt="0"/>
      <dgm:spPr/>
    </dgm:pt>
    <dgm:pt modelId="{9A06928B-88DC-1649-93D6-7EB24BBB0D99}" type="pres">
      <dgm:prSet presAssocID="{9212C002-DA5A-4572-A5F6-0AB0A4686B53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38679F2E-17C4-9F4C-A8AF-FA9F45AC6632}" type="presOf" srcId="{EEE407E0-8097-4E54-943B-BC8E4BA335F8}" destId="{65706BCA-AC1D-6146-9AD1-9DB26851F3A4}" srcOrd="0" destOrd="0" presId="urn:microsoft.com/office/officeart/2005/8/layout/list1"/>
    <dgm:cxn modelId="{020E035B-FF2E-45EF-899B-9AB2CBB7BB8E}" srcId="{EEE407E0-8097-4E54-943B-BC8E4BA335F8}" destId="{B2A4BD11-8A00-4DED-9DE3-95D93C8FAF95}" srcOrd="0" destOrd="0" parTransId="{8D62EED5-5D96-4DEA-BDCD-F09C2CBBD438}" sibTransId="{D7A6792B-C959-4121-BCA1-81C09577E709}"/>
    <dgm:cxn modelId="{8B33B87F-154E-FB45-B449-C88BACB78375}" type="presOf" srcId="{B2A4BD11-8A00-4DED-9DE3-95D93C8FAF95}" destId="{4BF94CE1-712D-6A43-A446-33386D2DEA83}" srcOrd="0" destOrd="0" presId="urn:microsoft.com/office/officeart/2005/8/layout/list1"/>
    <dgm:cxn modelId="{2FC49983-C4FD-A04C-8169-E397AA7C9B02}" type="presOf" srcId="{B2A4BD11-8A00-4DED-9DE3-95D93C8FAF95}" destId="{B9033B5E-1913-C94D-928A-3C38191064D7}" srcOrd="1" destOrd="0" presId="urn:microsoft.com/office/officeart/2005/8/layout/list1"/>
    <dgm:cxn modelId="{29836C9F-2E19-1543-BEC8-EC4C6EACD9F1}" type="presOf" srcId="{9212C002-DA5A-4572-A5F6-0AB0A4686B53}" destId="{A6FBC667-EE29-A84C-B828-BCF3FF9EE2B7}" srcOrd="0" destOrd="0" presId="urn:microsoft.com/office/officeart/2005/8/layout/list1"/>
    <dgm:cxn modelId="{75E895AA-FCD2-0B44-BE4C-CBDB430710E5}" type="presOf" srcId="{9212C002-DA5A-4572-A5F6-0AB0A4686B53}" destId="{931BEF24-B73D-B44E-A1E4-95F168B54348}" srcOrd="1" destOrd="0" presId="urn:microsoft.com/office/officeart/2005/8/layout/list1"/>
    <dgm:cxn modelId="{D5622EFC-1939-483F-81D2-3A0DC78B26D8}" srcId="{EEE407E0-8097-4E54-943B-BC8E4BA335F8}" destId="{9212C002-DA5A-4572-A5F6-0AB0A4686B53}" srcOrd="1" destOrd="0" parTransId="{B84F2EAB-EC52-4873-BB18-4065C252948E}" sibTransId="{1268ACF6-1D1C-46B3-9C26-97AE0D847357}"/>
    <dgm:cxn modelId="{A73283CA-ABF4-8D4F-A8E8-40C85E9D7EB1}" type="presParOf" srcId="{65706BCA-AC1D-6146-9AD1-9DB26851F3A4}" destId="{ED79EF31-8163-8F44-A775-2B0641849B8C}" srcOrd="0" destOrd="0" presId="urn:microsoft.com/office/officeart/2005/8/layout/list1"/>
    <dgm:cxn modelId="{896894E6-04EC-6944-839D-3BC3EF27300E}" type="presParOf" srcId="{ED79EF31-8163-8F44-A775-2B0641849B8C}" destId="{4BF94CE1-712D-6A43-A446-33386D2DEA83}" srcOrd="0" destOrd="0" presId="urn:microsoft.com/office/officeart/2005/8/layout/list1"/>
    <dgm:cxn modelId="{19CE21E1-37A6-204E-A98E-078E1D5B1B99}" type="presParOf" srcId="{ED79EF31-8163-8F44-A775-2B0641849B8C}" destId="{B9033B5E-1913-C94D-928A-3C38191064D7}" srcOrd="1" destOrd="0" presId="urn:microsoft.com/office/officeart/2005/8/layout/list1"/>
    <dgm:cxn modelId="{7C14BFC7-1C8B-C348-98C2-81BE0E4E9434}" type="presParOf" srcId="{65706BCA-AC1D-6146-9AD1-9DB26851F3A4}" destId="{C50BD12F-B71A-2448-AA69-D0FC0DEC8ADB}" srcOrd="1" destOrd="0" presId="urn:microsoft.com/office/officeart/2005/8/layout/list1"/>
    <dgm:cxn modelId="{7855EC65-1555-7C42-AA18-84DEFB08597D}" type="presParOf" srcId="{65706BCA-AC1D-6146-9AD1-9DB26851F3A4}" destId="{49F46683-4A6C-EE48-93FD-47D788167604}" srcOrd="2" destOrd="0" presId="urn:microsoft.com/office/officeart/2005/8/layout/list1"/>
    <dgm:cxn modelId="{7671CE4F-83AE-9443-A24D-275A91FF0D94}" type="presParOf" srcId="{65706BCA-AC1D-6146-9AD1-9DB26851F3A4}" destId="{FD2A332F-FEBA-D247-A50E-AD6820B37075}" srcOrd="3" destOrd="0" presId="urn:microsoft.com/office/officeart/2005/8/layout/list1"/>
    <dgm:cxn modelId="{5D3C1A6C-9343-D34F-B225-BE52FC09A4F3}" type="presParOf" srcId="{65706BCA-AC1D-6146-9AD1-9DB26851F3A4}" destId="{5318B02F-B7F4-6A4E-850D-1CC790FBD65B}" srcOrd="4" destOrd="0" presId="urn:microsoft.com/office/officeart/2005/8/layout/list1"/>
    <dgm:cxn modelId="{187C2028-4478-9147-90A2-8EDB1CECDE05}" type="presParOf" srcId="{5318B02F-B7F4-6A4E-850D-1CC790FBD65B}" destId="{A6FBC667-EE29-A84C-B828-BCF3FF9EE2B7}" srcOrd="0" destOrd="0" presId="urn:microsoft.com/office/officeart/2005/8/layout/list1"/>
    <dgm:cxn modelId="{86B5145D-2290-8649-AB47-5972EC945307}" type="presParOf" srcId="{5318B02F-B7F4-6A4E-850D-1CC790FBD65B}" destId="{931BEF24-B73D-B44E-A1E4-95F168B54348}" srcOrd="1" destOrd="0" presId="urn:microsoft.com/office/officeart/2005/8/layout/list1"/>
    <dgm:cxn modelId="{16376849-74E1-744A-A5E6-CAD41CC1B7D1}" type="presParOf" srcId="{65706BCA-AC1D-6146-9AD1-9DB26851F3A4}" destId="{E3C6AEF9-8824-ED48-96AB-78328C6D35A7}" srcOrd="5" destOrd="0" presId="urn:microsoft.com/office/officeart/2005/8/layout/list1"/>
    <dgm:cxn modelId="{831F6B0C-6475-1F40-8F31-C7CF2EA7FD01}" type="presParOf" srcId="{65706BCA-AC1D-6146-9AD1-9DB26851F3A4}" destId="{9A06928B-88DC-1649-93D6-7EB24BBB0D99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965A48-4264-8046-AD8A-11CF63D5B027}">
      <dsp:nvSpPr>
        <dsp:cNvPr id="0" name=""/>
        <dsp:cNvSpPr/>
      </dsp:nvSpPr>
      <dsp:spPr>
        <a:xfrm>
          <a:off x="0" y="20877"/>
          <a:ext cx="6056111" cy="7956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Dataset: Neighborhood Financial Health Digital Mapping and Data Tool</a:t>
          </a:r>
        </a:p>
      </dsp:txBody>
      <dsp:txXfrm>
        <a:off x="38838" y="59715"/>
        <a:ext cx="5978435" cy="717924"/>
      </dsp:txXfrm>
    </dsp:sp>
    <dsp:sp modelId="{CDDB2334-420C-5E4E-8804-8951C73F885C}">
      <dsp:nvSpPr>
        <dsp:cNvPr id="0" name=""/>
        <dsp:cNvSpPr/>
      </dsp:nvSpPr>
      <dsp:spPr>
        <a:xfrm>
          <a:off x="0" y="874077"/>
          <a:ext cx="6056111" cy="795600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52 columns, 386 rows</a:t>
          </a:r>
        </a:p>
      </dsp:txBody>
      <dsp:txXfrm>
        <a:off x="38838" y="912915"/>
        <a:ext cx="5978435" cy="717924"/>
      </dsp:txXfrm>
    </dsp:sp>
    <dsp:sp modelId="{803A3CEB-E8CC-564E-BED8-C538C658AB25}">
      <dsp:nvSpPr>
        <dsp:cNvPr id="0" name=""/>
        <dsp:cNvSpPr/>
      </dsp:nvSpPr>
      <dsp:spPr>
        <a:xfrm>
          <a:off x="0" y="1727277"/>
          <a:ext cx="6056111" cy="795600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poverty rates, various financial health indicators, demographics, median incomes, and social indicators.</a:t>
          </a:r>
        </a:p>
      </dsp:txBody>
      <dsp:txXfrm>
        <a:off x="38838" y="1766115"/>
        <a:ext cx="5978435" cy="71792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723534-EF34-7D40-9002-4FFD36CA097B}">
      <dsp:nvSpPr>
        <dsp:cNvPr id="0" name=""/>
        <dsp:cNvSpPr/>
      </dsp:nvSpPr>
      <dsp:spPr>
        <a:xfrm>
          <a:off x="739" y="599140"/>
          <a:ext cx="2690947" cy="134547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▪ How do </a:t>
          </a:r>
          <a:r>
            <a:rPr lang="en-US" sz="2000" kern="1200" dirty="0" err="1"/>
            <a:t>IndexScores</a:t>
          </a:r>
          <a:r>
            <a:rPr lang="en-US" sz="2000" kern="1200" dirty="0"/>
            <a:t> vary across NYC boroughs and neighborhoods?</a:t>
          </a:r>
        </a:p>
      </dsp:txBody>
      <dsp:txXfrm>
        <a:off x="40147" y="638548"/>
        <a:ext cx="2612131" cy="1266657"/>
      </dsp:txXfrm>
    </dsp:sp>
    <dsp:sp modelId="{0CDEB827-D051-BC46-A0E7-4BB2505C670D}">
      <dsp:nvSpPr>
        <dsp:cNvPr id="0" name=""/>
        <dsp:cNvSpPr/>
      </dsp:nvSpPr>
      <dsp:spPr>
        <a:xfrm>
          <a:off x="3364423" y="599140"/>
          <a:ext cx="2690947" cy="134547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▪ Which neighborhoods in NYC have the highest and lowest financial health scores?</a:t>
          </a:r>
        </a:p>
      </dsp:txBody>
      <dsp:txXfrm>
        <a:off x="3403831" y="638548"/>
        <a:ext cx="2612131" cy="126665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F46683-4A6C-EE48-93FD-47D788167604}">
      <dsp:nvSpPr>
        <dsp:cNvPr id="0" name=""/>
        <dsp:cNvSpPr/>
      </dsp:nvSpPr>
      <dsp:spPr>
        <a:xfrm>
          <a:off x="0" y="1986870"/>
          <a:ext cx="5175384" cy="7055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033B5E-1913-C94D-928A-3C38191064D7}">
      <dsp:nvSpPr>
        <dsp:cNvPr id="0" name=""/>
        <dsp:cNvSpPr/>
      </dsp:nvSpPr>
      <dsp:spPr>
        <a:xfrm>
          <a:off x="258769" y="1573590"/>
          <a:ext cx="3622768" cy="82655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932" tIns="0" rIns="136932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Sample size</a:t>
          </a:r>
        </a:p>
      </dsp:txBody>
      <dsp:txXfrm>
        <a:off x="299118" y="1613939"/>
        <a:ext cx="3542070" cy="745861"/>
      </dsp:txXfrm>
    </dsp:sp>
    <dsp:sp modelId="{9A06928B-88DC-1649-93D6-7EB24BBB0D99}">
      <dsp:nvSpPr>
        <dsp:cNvPr id="0" name=""/>
        <dsp:cNvSpPr/>
      </dsp:nvSpPr>
      <dsp:spPr>
        <a:xfrm>
          <a:off x="0" y="3256950"/>
          <a:ext cx="5175384" cy="7055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1BEF24-B73D-B44E-A1E4-95F168B54348}">
      <dsp:nvSpPr>
        <dsp:cNvPr id="0" name=""/>
        <dsp:cNvSpPr/>
      </dsp:nvSpPr>
      <dsp:spPr>
        <a:xfrm>
          <a:off x="258769" y="2843670"/>
          <a:ext cx="3622768" cy="82655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932" tIns="0" rIns="136932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Other external factors</a:t>
          </a:r>
        </a:p>
      </dsp:txBody>
      <dsp:txXfrm>
        <a:off x="299118" y="2884019"/>
        <a:ext cx="3542070" cy="74586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729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077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560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658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617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836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215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376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563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810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894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29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1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Relationship Id="rId9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6" Type="http://schemas.openxmlformats.org/officeDocument/2006/relationships/image" Target="../media/image1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3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Relationship Id="rId9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" TargetMode="External"/><Relationship Id="rId2" Type="http://schemas.openxmlformats.org/officeDocument/2006/relationships/hyperlink" Target="https://data.cityofnewyork.us/Business/Neighborhood-Financial-Health-Digital-Mapping-and-/r3dx-pew9/about_data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8650" y="451381"/>
            <a:ext cx="7884414" cy="4066540"/>
          </a:xfrm>
        </p:spPr>
        <p:txBody>
          <a:bodyPr anchor="b">
            <a:normAutofit/>
          </a:bodyPr>
          <a:lstStyle/>
          <a:p>
            <a:pPr algn="l"/>
            <a:r>
              <a:rPr lang="en-US" sz="5700" b="1" dirty="0"/>
              <a:t>Analysis of NYC Neighborhood Financial &amp; Social Data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8649" y="4983276"/>
            <a:ext cx="7884414" cy="1126680"/>
          </a:xfrm>
        </p:spPr>
        <p:txBody>
          <a:bodyPr>
            <a:normAutofit/>
          </a:bodyPr>
          <a:lstStyle/>
          <a:p>
            <a:pPr algn="l"/>
            <a:r>
              <a:rPr lang="en-US" sz="1700" dirty="0"/>
              <a:t>Neighborhood Financial Health</a:t>
            </a:r>
          </a:p>
          <a:p>
            <a:pPr algn="l"/>
            <a:r>
              <a:rPr lang="en-US" sz="1700" dirty="0"/>
              <a:t>Sahar Ahmadi</a:t>
            </a:r>
          </a:p>
          <a:p>
            <a:pPr algn="l"/>
            <a:r>
              <a:rPr lang="en-US" sz="1700" dirty="0"/>
              <a:t>12/19/2025</a:t>
            </a:r>
          </a:p>
        </p:txBody>
      </p:sp>
      <p:sp>
        <p:nvSpPr>
          <p:cNvPr id="29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4718595"/>
            <a:ext cx="4057650" cy="18288"/>
          </a:xfrm>
          <a:custGeom>
            <a:avLst/>
            <a:gdLst>
              <a:gd name="connsiteX0" fmla="*/ 0 w 4057650"/>
              <a:gd name="connsiteY0" fmla="*/ 0 h 18288"/>
              <a:gd name="connsiteX1" fmla="*/ 757428 w 4057650"/>
              <a:gd name="connsiteY1" fmla="*/ 0 h 18288"/>
              <a:gd name="connsiteX2" fmla="*/ 1474279 w 4057650"/>
              <a:gd name="connsiteY2" fmla="*/ 0 h 18288"/>
              <a:gd name="connsiteX3" fmla="*/ 2191131 w 4057650"/>
              <a:gd name="connsiteY3" fmla="*/ 0 h 18288"/>
              <a:gd name="connsiteX4" fmla="*/ 2745676 w 4057650"/>
              <a:gd name="connsiteY4" fmla="*/ 0 h 18288"/>
              <a:gd name="connsiteX5" fmla="*/ 3340798 w 4057650"/>
              <a:gd name="connsiteY5" fmla="*/ 0 h 18288"/>
              <a:gd name="connsiteX6" fmla="*/ 4057650 w 4057650"/>
              <a:gd name="connsiteY6" fmla="*/ 0 h 18288"/>
              <a:gd name="connsiteX7" fmla="*/ 4057650 w 4057650"/>
              <a:gd name="connsiteY7" fmla="*/ 18288 h 18288"/>
              <a:gd name="connsiteX8" fmla="*/ 3381375 w 4057650"/>
              <a:gd name="connsiteY8" fmla="*/ 18288 h 18288"/>
              <a:gd name="connsiteX9" fmla="*/ 2826830 w 4057650"/>
              <a:gd name="connsiteY9" fmla="*/ 18288 h 18288"/>
              <a:gd name="connsiteX10" fmla="*/ 2272284 w 4057650"/>
              <a:gd name="connsiteY10" fmla="*/ 18288 h 18288"/>
              <a:gd name="connsiteX11" fmla="*/ 1555432 w 4057650"/>
              <a:gd name="connsiteY11" fmla="*/ 18288 h 18288"/>
              <a:gd name="connsiteX12" fmla="*/ 960310 w 4057650"/>
              <a:gd name="connsiteY12" fmla="*/ 18288 h 18288"/>
              <a:gd name="connsiteX13" fmla="*/ 0 w 4057650"/>
              <a:gd name="connsiteY13" fmla="*/ 18288 h 18288"/>
              <a:gd name="connsiteX14" fmla="*/ 0 w 4057650"/>
              <a:gd name="connsiteY1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057650" h="18288" fill="none" extrusionOk="0">
                <a:moveTo>
                  <a:pt x="0" y="0"/>
                </a:moveTo>
                <a:cubicBezTo>
                  <a:pt x="371182" y="3227"/>
                  <a:pt x="494372" y="9222"/>
                  <a:pt x="757428" y="0"/>
                </a:cubicBezTo>
                <a:cubicBezTo>
                  <a:pt x="1020484" y="-9222"/>
                  <a:pt x="1116719" y="-4357"/>
                  <a:pt x="1474279" y="0"/>
                </a:cubicBezTo>
                <a:cubicBezTo>
                  <a:pt x="1831839" y="4357"/>
                  <a:pt x="1920973" y="-11809"/>
                  <a:pt x="2191131" y="0"/>
                </a:cubicBezTo>
                <a:cubicBezTo>
                  <a:pt x="2461289" y="11809"/>
                  <a:pt x="2589480" y="-22604"/>
                  <a:pt x="2745676" y="0"/>
                </a:cubicBezTo>
                <a:cubicBezTo>
                  <a:pt x="2901872" y="22604"/>
                  <a:pt x="3136452" y="-12306"/>
                  <a:pt x="3340798" y="0"/>
                </a:cubicBezTo>
                <a:cubicBezTo>
                  <a:pt x="3545144" y="12306"/>
                  <a:pt x="3766934" y="-21556"/>
                  <a:pt x="4057650" y="0"/>
                </a:cubicBezTo>
                <a:cubicBezTo>
                  <a:pt x="4057150" y="8855"/>
                  <a:pt x="4057759" y="14521"/>
                  <a:pt x="4057650" y="18288"/>
                </a:cubicBezTo>
                <a:cubicBezTo>
                  <a:pt x="3743404" y="40125"/>
                  <a:pt x="3625516" y="-14923"/>
                  <a:pt x="3381375" y="18288"/>
                </a:cubicBezTo>
                <a:cubicBezTo>
                  <a:pt x="3137235" y="51499"/>
                  <a:pt x="2946571" y="1"/>
                  <a:pt x="2826830" y="18288"/>
                </a:cubicBezTo>
                <a:cubicBezTo>
                  <a:pt x="2707090" y="36575"/>
                  <a:pt x="2402756" y="1432"/>
                  <a:pt x="2272284" y="18288"/>
                </a:cubicBezTo>
                <a:cubicBezTo>
                  <a:pt x="2141812" y="35144"/>
                  <a:pt x="1895935" y="18199"/>
                  <a:pt x="1555432" y="18288"/>
                </a:cubicBezTo>
                <a:cubicBezTo>
                  <a:pt x="1214929" y="18377"/>
                  <a:pt x="1103072" y="14503"/>
                  <a:pt x="960310" y="18288"/>
                </a:cubicBezTo>
                <a:cubicBezTo>
                  <a:pt x="817548" y="22073"/>
                  <a:pt x="402272" y="-29359"/>
                  <a:pt x="0" y="18288"/>
                </a:cubicBezTo>
                <a:cubicBezTo>
                  <a:pt x="683" y="12014"/>
                  <a:pt x="724" y="5908"/>
                  <a:pt x="0" y="0"/>
                </a:cubicBezTo>
                <a:close/>
              </a:path>
              <a:path w="4057650" h="18288" stroke="0" extrusionOk="0">
                <a:moveTo>
                  <a:pt x="0" y="0"/>
                </a:moveTo>
                <a:cubicBezTo>
                  <a:pt x="248348" y="13145"/>
                  <a:pt x="486117" y="25042"/>
                  <a:pt x="635698" y="0"/>
                </a:cubicBezTo>
                <a:cubicBezTo>
                  <a:pt x="785279" y="-25042"/>
                  <a:pt x="917762" y="-5537"/>
                  <a:pt x="1190244" y="0"/>
                </a:cubicBezTo>
                <a:cubicBezTo>
                  <a:pt x="1462726" y="5537"/>
                  <a:pt x="1667120" y="-21232"/>
                  <a:pt x="1947672" y="0"/>
                </a:cubicBezTo>
                <a:cubicBezTo>
                  <a:pt x="2228224" y="21232"/>
                  <a:pt x="2280631" y="-21698"/>
                  <a:pt x="2583370" y="0"/>
                </a:cubicBezTo>
                <a:cubicBezTo>
                  <a:pt x="2886109" y="21698"/>
                  <a:pt x="3022941" y="19647"/>
                  <a:pt x="3219069" y="0"/>
                </a:cubicBezTo>
                <a:cubicBezTo>
                  <a:pt x="3415197" y="-19647"/>
                  <a:pt x="3747500" y="26991"/>
                  <a:pt x="4057650" y="0"/>
                </a:cubicBezTo>
                <a:cubicBezTo>
                  <a:pt x="4056752" y="7180"/>
                  <a:pt x="4057819" y="13790"/>
                  <a:pt x="4057650" y="18288"/>
                </a:cubicBezTo>
                <a:cubicBezTo>
                  <a:pt x="3865148" y="-3313"/>
                  <a:pt x="3702543" y="49468"/>
                  <a:pt x="3381375" y="18288"/>
                </a:cubicBezTo>
                <a:cubicBezTo>
                  <a:pt x="3060208" y="-12892"/>
                  <a:pt x="2956571" y="-8678"/>
                  <a:pt x="2826830" y="18288"/>
                </a:cubicBezTo>
                <a:cubicBezTo>
                  <a:pt x="2697089" y="45254"/>
                  <a:pt x="2411031" y="43154"/>
                  <a:pt x="2150555" y="18288"/>
                </a:cubicBezTo>
                <a:cubicBezTo>
                  <a:pt x="1890080" y="-6578"/>
                  <a:pt x="1741827" y="-615"/>
                  <a:pt x="1474280" y="18288"/>
                </a:cubicBezTo>
                <a:cubicBezTo>
                  <a:pt x="1206734" y="37191"/>
                  <a:pt x="998203" y="33335"/>
                  <a:pt x="838581" y="18288"/>
                </a:cubicBezTo>
                <a:cubicBezTo>
                  <a:pt x="678959" y="3241"/>
                  <a:pt x="187101" y="-13212"/>
                  <a:pt x="0" y="18288"/>
                </a:cubicBezTo>
                <a:cubicBezTo>
                  <a:pt x="571" y="10093"/>
                  <a:pt x="-125" y="840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Audio Recording Dec 18, 2025 at 2:37:35 PM">
            <a:hlinkClick r:id="" action="ppaction://media"/>
            <a:extLst>
              <a:ext uri="{FF2B5EF4-FFF2-40B4-BE49-F238E27FC236}">
                <a16:creationId xmlns:a16="http://schemas.microsoft.com/office/drawing/2014/main" id="{83007AB2-E158-4F1A-D427-59C0633B8E0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661353" y="4448104"/>
            <a:ext cx="812800" cy="8128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4" dur="21372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2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r>
              <a:rPr lang="en-US" sz="6300" b="1" dirty="0"/>
              <a:t>Introduction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EA7BA13-2CD8-5785-D989-AE7A1D5D8D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4313620"/>
              </p:ext>
            </p:extLst>
          </p:nvPr>
        </p:nvGraphicFramePr>
        <p:xfrm>
          <a:off x="963930" y="2921000"/>
          <a:ext cx="6056111" cy="25437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4" name="Audio Recording Dec 18, 2025 at 2:38:59 PM">
            <a:hlinkClick r:id="" action="ppaction://media"/>
            <a:extLst>
              <a:ext uri="{FF2B5EF4-FFF2-40B4-BE49-F238E27FC236}">
                <a16:creationId xmlns:a16="http://schemas.microsoft.com/office/drawing/2014/main" id="{0CC10016-8FEE-9A08-79D8-28EEFD450F2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6207241" y="1261534"/>
            <a:ext cx="812800" cy="8128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11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3E189C-47E7-816F-5777-6153255D5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r>
              <a:rPr lang="en-US" sz="3500" b="1" dirty="0"/>
              <a:t>Purpose</a:t>
            </a:r>
            <a:br>
              <a:rPr lang="en-US" sz="3500" dirty="0">
                <a:effectLst/>
                <a:latin typeface="Times New Roman" panose="02020603050405020304" pitchFamily="18" charset="0"/>
              </a:rPr>
            </a:br>
            <a:endParaRPr lang="en-US" sz="35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C2E05-3D1F-774D-7D42-50015C9A3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100" dirty="0">
                <a:latin typeface="Times New Roman" panose="02020603050405020304" pitchFamily="18" charset="0"/>
              </a:rPr>
              <a:t>I</a:t>
            </a:r>
            <a:r>
              <a:rPr lang="en-US" sz="2100" dirty="0">
                <a:effectLst/>
                <a:latin typeface="Times New Roman" panose="02020603050405020304" pitchFamily="18" charset="0"/>
              </a:rPr>
              <a:t>nform policy decisions, resource allocation, community support programs, policymakers, and city planners to allocate resources effectively and design programs that target underserved areas.</a:t>
            </a:r>
          </a:p>
          <a:p>
            <a:endParaRPr lang="en-US" sz="2100" dirty="0"/>
          </a:p>
        </p:txBody>
      </p:sp>
      <p:pic>
        <p:nvPicPr>
          <p:cNvPr id="5" name="Audio Recording Dec 18, 2025 at 2:41:26 PM">
            <a:hlinkClick r:id="" action="ppaction://media"/>
            <a:extLst>
              <a:ext uri="{FF2B5EF4-FFF2-40B4-BE49-F238E27FC236}">
                <a16:creationId xmlns:a16="http://schemas.microsoft.com/office/drawing/2014/main" id="{E2D2EFE2-BCE7-E95D-1AC2-73B1E78F284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77073" y="4529667"/>
            <a:ext cx="812800" cy="8128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pic>
    </p:spTree>
    <p:extLst>
      <p:ext uri="{BB962C8B-B14F-4D97-AF65-F5344CB8AC3E}">
        <p14:creationId xmlns:p14="http://schemas.microsoft.com/office/powerpoint/2010/main" val="181238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572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67846B-3A34-A8A7-7ACF-F230B8267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r>
              <a:rPr lang="en-US" sz="5400">
                <a:latin typeface="Times New Roman" panose="02020603050405020304" pitchFamily="18" charset="0"/>
              </a:rPr>
              <a:t>R</a:t>
            </a:r>
            <a:r>
              <a:rPr lang="en-US" sz="5400">
                <a:effectLst/>
                <a:latin typeface="Times New Roman" panose="02020603050405020304" pitchFamily="18" charset="0"/>
              </a:rPr>
              <a:t>esearch </a:t>
            </a:r>
            <a:r>
              <a:rPr lang="en-US" sz="5400">
                <a:latin typeface="Times New Roman" panose="02020603050405020304" pitchFamily="18" charset="0"/>
              </a:rPr>
              <a:t>Q</a:t>
            </a:r>
            <a:r>
              <a:rPr lang="en-US" sz="5400">
                <a:effectLst/>
                <a:latin typeface="Times New Roman" panose="02020603050405020304" pitchFamily="18" charset="0"/>
              </a:rPr>
              <a:t>uestions </a:t>
            </a:r>
            <a:br>
              <a:rPr lang="en-US" sz="5400">
                <a:effectLst/>
                <a:latin typeface="Times New Roman" panose="02020603050405020304" pitchFamily="18" charset="0"/>
              </a:rPr>
            </a:br>
            <a:endParaRPr lang="en-US" sz="54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D6BD407-96E9-85B2-1C5E-5AA11F6367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9874219"/>
              </p:ext>
            </p:extLst>
          </p:nvPr>
        </p:nvGraphicFramePr>
        <p:xfrm>
          <a:off x="963930" y="2921000"/>
          <a:ext cx="6056111" cy="25437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4" name="Audio Recording Dec 18, 2025 at 2:40:07 PM">
            <a:hlinkClick r:id="" action="ppaction://media"/>
            <a:extLst>
              <a:ext uri="{FF2B5EF4-FFF2-40B4-BE49-F238E27FC236}">
                <a16:creationId xmlns:a16="http://schemas.microsoft.com/office/drawing/2014/main" id="{4C00EF33-ECC9-FA9F-D00A-8306B9343B4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963930" y="4937719"/>
            <a:ext cx="812800" cy="8128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pic>
    </p:spTree>
    <p:extLst>
      <p:ext uri="{BB962C8B-B14F-4D97-AF65-F5344CB8AC3E}">
        <p14:creationId xmlns:p14="http://schemas.microsoft.com/office/powerpoint/2010/main" val="3675426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406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825" y="1188637"/>
            <a:ext cx="2241175" cy="4480726"/>
          </a:xfrm>
        </p:spPr>
        <p:txBody>
          <a:bodyPr>
            <a:normAutofit/>
          </a:bodyPr>
          <a:lstStyle/>
          <a:p>
            <a:pPr algn="r"/>
            <a:r>
              <a:rPr lang="en-US" sz="2700" b="1">
                <a:effectLst/>
                <a:latin typeface="Times New Roman" panose="02020603050405020304" pitchFamily="18" charset="0"/>
              </a:rPr>
              <a:t>Methodology for Analysis</a:t>
            </a:r>
            <a:endParaRPr lang="en-US" sz="2700">
              <a:effectLst/>
              <a:latin typeface="Times New Roman" panose="02020603050405020304" pitchFamily="18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445" y="1648870"/>
            <a:ext cx="3527136" cy="356026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100" dirty="0"/>
              <a:t>Python Libraries:</a:t>
            </a:r>
          </a:p>
          <a:p>
            <a:r>
              <a:rPr lang="en-US" sz="2100" dirty="0"/>
              <a:t>Pandas, Matplotlib, re, </a:t>
            </a:r>
            <a:r>
              <a:rPr lang="en-US" sz="2100" dirty="0" err="1"/>
              <a:t>os</a:t>
            </a:r>
            <a:r>
              <a:rPr lang="en-US" sz="2100" dirty="0"/>
              <a:t>, </a:t>
            </a:r>
            <a:r>
              <a:rPr lang="en-US" sz="2100" dirty="0" err="1">
                <a:effectLst/>
                <a:latin typeface="Times New Roman" panose="02020603050405020304" pitchFamily="18" charset="0"/>
              </a:rPr>
              <a:t>BeautifulSoup</a:t>
            </a:r>
            <a:endParaRPr lang="en-US" sz="2100" dirty="0">
              <a:effectLst/>
              <a:latin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/>
              <a:t>Data Cleaning:</a:t>
            </a:r>
          </a:p>
          <a:p>
            <a:r>
              <a:rPr lang="en-US" sz="2100" dirty="0"/>
              <a:t>Removed duplicates and missing values</a:t>
            </a:r>
          </a:p>
          <a:p>
            <a:r>
              <a:rPr lang="en-US" sz="2100" dirty="0"/>
              <a:t>Converted numeric columns</a:t>
            </a:r>
          </a:p>
          <a:p>
            <a:pPr marL="0" indent="0">
              <a:buNone/>
            </a:pPr>
            <a:endParaRPr lang="en-US" sz="2100" dirty="0"/>
          </a:p>
        </p:txBody>
      </p:sp>
      <p:pic>
        <p:nvPicPr>
          <p:cNvPr id="4" name="Audio Recording Dec 18, 2025 at 2:05:16 PM">
            <a:hlinkClick r:id="" action="ppaction://media"/>
            <a:extLst>
              <a:ext uri="{FF2B5EF4-FFF2-40B4-BE49-F238E27FC236}">
                <a16:creationId xmlns:a16="http://schemas.microsoft.com/office/drawing/2014/main" id="{6950CCD8-C56E-DE8E-2713-B75BA12F86A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85652" y="4682958"/>
            <a:ext cx="812800" cy="8128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55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B62DBB-A6D4-6FDD-CDCA-D078915D9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160" y="417576"/>
            <a:ext cx="8182230" cy="1249394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5700" b="1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Key Python code segments</a:t>
            </a:r>
            <a:endParaRPr lang="en-US" sz="5700" kern="1200" dirty="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9C639-442A-C906-1706-5BC3A7965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160" y="1809541"/>
            <a:ext cx="8182233" cy="68740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Loading the Dataset : 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55776" y="1733454"/>
            <a:ext cx="3429000" cy="18288"/>
          </a:xfrm>
          <a:custGeom>
            <a:avLst/>
            <a:gdLst>
              <a:gd name="connsiteX0" fmla="*/ 0 w 3429000"/>
              <a:gd name="connsiteY0" fmla="*/ 0 h 18288"/>
              <a:gd name="connsiteX1" fmla="*/ 685800 w 3429000"/>
              <a:gd name="connsiteY1" fmla="*/ 0 h 18288"/>
              <a:gd name="connsiteX2" fmla="*/ 1371600 w 3429000"/>
              <a:gd name="connsiteY2" fmla="*/ 0 h 18288"/>
              <a:gd name="connsiteX3" fmla="*/ 2057400 w 3429000"/>
              <a:gd name="connsiteY3" fmla="*/ 0 h 18288"/>
              <a:gd name="connsiteX4" fmla="*/ 2674620 w 3429000"/>
              <a:gd name="connsiteY4" fmla="*/ 0 h 18288"/>
              <a:gd name="connsiteX5" fmla="*/ 3429000 w 3429000"/>
              <a:gd name="connsiteY5" fmla="*/ 0 h 18288"/>
              <a:gd name="connsiteX6" fmla="*/ 3429000 w 3429000"/>
              <a:gd name="connsiteY6" fmla="*/ 18288 h 18288"/>
              <a:gd name="connsiteX7" fmla="*/ 2811780 w 3429000"/>
              <a:gd name="connsiteY7" fmla="*/ 18288 h 18288"/>
              <a:gd name="connsiteX8" fmla="*/ 2228850 w 3429000"/>
              <a:gd name="connsiteY8" fmla="*/ 18288 h 18288"/>
              <a:gd name="connsiteX9" fmla="*/ 1543050 w 3429000"/>
              <a:gd name="connsiteY9" fmla="*/ 18288 h 18288"/>
              <a:gd name="connsiteX10" fmla="*/ 925830 w 3429000"/>
              <a:gd name="connsiteY10" fmla="*/ 18288 h 18288"/>
              <a:gd name="connsiteX11" fmla="*/ 0 w 3429000"/>
              <a:gd name="connsiteY11" fmla="*/ 18288 h 18288"/>
              <a:gd name="connsiteX12" fmla="*/ 0 w 342900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29000" h="18288" fill="none" extrusionOk="0">
                <a:moveTo>
                  <a:pt x="0" y="0"/>
                </a:moveTo>
                <a:cubicBezTo>
                  <a:pt x="219865" y="20479"/>
                  <a:pt x="493281" y="26186"/>
                  <a:pt x="685800" y="0"/>
                </a:cubicBezTo>
                <a:cubicBezTo>
                  <a:pt x="878319" y="-26186"/>
                  <a:pt x="1121382" y="-11869"/>
                  <a:pt x="1371600" y="0"/>
                </a:cubicBezTo>
                <a:cubicBezTo>
                  <a:pt x="1621818" y="11869"/>
                  <a:pt x="1878793" y="32281"/>
                  <a:pt x="2057400" y="0"/>
                </a:cubicBezTo>
                <a:cubicBezTo>
                  <a:pt x="2236007" y="-32281"/>
                  <a:pt x="2433797" y="-18251"/>
                  <a:pt x="2674620" y="0"/>
                </a:cubicBezTo>
                <a:cubicBezTo>
                  <a:pt x="2915443" y="18251"/>
                  <a:pt x="3205923" y="-1443"/>
                  <a:pt x="3429000" y="0"/>
                </a:cubicBezTo>
                <a:cubicBezTo>
                  <a:pt x="3429442" y="4516"/>
                  <a:pt x="3428173" y="12266"/>
                  <a:pt x="3429000" y="18288"/>
                </a:cubicBezTo>
                <a:cubicBezTo>
                  <a:pt x="3221081" y="48608"/>
                  <a:pt x="3088001" y="8066"/>
                  <a:pt x="2811780" y="18288"/>
                </a:cubicBezTo>
                <a:cubicBezTo>
                  <a:pt x="2535559" y="28510"/>
                  <a:pt x="2481355" y="24898"/>
                  <a:pt x="2228850" y="18288"/>
                </a:cubicBezTo>
                <a:cubicBezTo>
                  <a:pt x="1976345" y="11679"/>
                  <a:pt x="1807520" y="48356"/>
                  <a:pt x="1543050" y="18288"/>
                </a:cubicBezTo>
                <a:cubicBezTo>
                  <a:pt x="1278580" y="-11780"/>
                  <a:pt x="1181944" y="5123"/>
                  <a:pt x="925830" y="18288"/>
                </a:cubicBezTo>
                <a:cubicBezTo>
                  <a:pt x="669716" y="31453"/>
                  <a:pt x="410304" y="34815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429000" h="18288" stroke="0" extrusionOk="0">
                <a:moveTo>
                  <a:pt x="0" y="0"/>
                </a:moveTo>
                <a:cubicBezTo>
                  <a:pt x="174095" y="-12874"/>
                  <a:pt x="443087" y="-14090"/>
                  <a:pt x="617220" y="0"/>
                </a:cubicBezTo>
                <a:cubicBezTo>
                  <a:pt x="791353" y="14090"/>
                  <a:pt x="1072677" y="8451"/>
                  <a:pt x="1200150" y="0"/>
                </a:cubicBezTo>
                <a:cubicBezTo>
                  <a:pt x="1327623" y="-8451"/>
                  <a:pt x="1526638" y="19866"/>
                  <a:pt x="1817370" y="0"/>
                </a:cubicBezTo>
                <a:cubicBezTo>
                  <a:pt x="2108102" y="-19866"/>
                  <a:pt x="2221289" y="26161"/>
                  <a:pt x="2503170" y="0"/>
                </a:cubicBezTo>
                <a:cubicBezTo>
                  <a:pt x="2785051" y="-26161"/>
                  <a:pt x="3022134" y="39178"/>
                  <a:pt x="3429000" y="0"/>
                </a:cubicBezTo>
                <a:cubicBezTo>
                  <a:pt x="3429577" y="4624"/>
                  <a:pt x="3429819" y="11191"/>
                  <a:pt x="3429000" y="18288"/>
                </a:cubicBezTo>
                <a:cubicBezTo>
                  <a:pt x="3103464" y="593"/>
                  <a:pt x="2887909" y="22940"/>
                  <a:pt x="2743200" y="18288"/>
                </a:cubicBezTo>
                <a:cubicBezTo>
                  <a:pt x="2598491" y="13636"/>
                  <a:pt x="2362615" y="10656"/>
                  <a:pt x="1988820" y="18288"/>
                </a:cubicBezTo>
                <a:cubicBezTo>
                  <a:pt x="1615025" y="25920"/>
                  <a:pt x="1580494" y="3693"/>
                  <a:pt x="1405890" y="18288"/>
                </a:cubicBezTo>
                <a:cubicBezTo>
                  <a:pt x="1231286" y="32884"/>
                  <a:pt x="885259" y="-16285"/>
                  <a:pt x="651510" y="18288"/>
                </a:cubicBezTo>
                <a:cubicBezTo>
                  <a:pt x="417761" y="52861"/>
                  <a:pt x="138362" y="-13856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C8D0C5D0-93E3-5F5A-6BDB-BDD2745F9C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521" y="2008346"/>
            <a:ext cx="8150806" cy="3586353"/>
          </a:xfrm>
          <a:prstGeom prst="rect">
            <a:avLst/>
          </a:prstGeom>
        </p:spPr>
      </p:pic>
      <p:pic>
        <p:nvPicPr>
          <p:cNvPr id="4" name="Audio Recording Dec 18, 2025 at 2:07:20 PM">
            <a:hlinkClick r:id="" action="ppaction://media"/>
            <a:extLst>
              <a:ext uri="{FF2B5EF4-FFF2-40B4-BE49-F238E27FC236}">
                <a16:creationId xmlns:a16="http://schemas.microsoft.com/office/drawing/2014/main" id="{F84F042E-449C-6C47-5650-42FF6CBFF5D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656253" y="2748483"/>
            <a:ext cx="812800" cy="8128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pic>
    </p:spTree>
    <p:extLst>
      <p:ext uri="{BB962C8B-B14F-4D97-AF65-F5344CB8AC3E}">
        <p14:creationId xmlns:p14="http://schemas.microsoft.com/office/powerpoint/2010/main" val="3012130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87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4CB247-6049-2C73-E2CA-B87A309A0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347" y="569867"/>
            <a:ext cx="3257550" cy="1929384"/>
          </a:xfrm>
        </p:spPr>
        <p:txBody>
          <a:bodyPr anchor="ctr">
            <a:normAutofit/>
          </a:bodyPr>
          <a:lstStyle/>
          <a:p>
            <a:r>
              <a:rPr lang="en-US" sz="4200" b="1">
                <a:effectLst/>
                <a:latin typeface="Times New Roman" panose="02020603050405020304" pitchFamily="18" charset="0"/>
              </a:rPr>
              <a:t>Key Python code segments</a:t>
            </a:r>
            <a:endParaRPr lang="en-US" sz="4200"/>
          </a:p>
        </p:txBody>
      </p:sp>
      <p:sp>
        <p:nvSpPr>
          <p:cNvPr id="13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159251" y="1415034"/>
            <a:ext cx="1554480" cy="13716"/>
          </a:xfrm>
          <a:custGeom>
            <a:avLst/>
            <a:gdLst>
              <a:gd name="connsiteX0" fmla="*/ 0 w 1554480"/>
              <a:gd name="connsiteY0" fmla="*/ 0 h 13716"/>
              <a:gd name="connsiteX1" fmla="*/ 549250 w 1554480"/>
              <a:gd name="connsiteY1" fmla="*/ 0 h 13716"/>
              <a:gd name="connsiteX2" fmla="*/ 1082954 w 1554480"/>
              <a:gd name="connsiteY2" fmla="*/ 0 h 13716"/>
              <a:gd name="connsiteX3" fmla="*/ 1554480 w 1554480"/>
              <a:gd name="connsiteY3" fmla="*/ 0 h 13716"/>
              <a:gd name="connsiteX4" fmla="*/ 1554480 w 1554480"/>
              <a:gd name="connsiteY4" fmla="*/ 13716 h 13716"/>
              <a:gd name="connsiteX5" fmla="*/ 1067410 w 1554480"/>
              <a:gd name="connsiteY5" fmla="*/ 13716 h 13716"/>
              <a:gd name="connsiteX6" fmla="*/ 549250 w 1554480"/>
              <a:gd name="connsiteY6" fmla="*/ 13716 h 13716"/>
              <a:gd name="connsiteX7" fmla="*/ 0 w 1554480"/>
              <a:gd name="connsiteY7" fmla="*/ 13716 h 13716"/>
              <a:gd name="connsiteX8" fmla="*/ 0 w 1554480"/>
              <a:gd name="connsiteY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3820" y="4959"/>
                  <a:pt x="1554594" y="10798"/>
                  <a:pt x="1554480" y="13716"/>
                </a:cubicBezTo>
                <a:cubicBezTo>
                  <a:pt x="1338847" y="1555"/>
                  <a:pt x="1215066" y="33279"/>
                  <a:pt x="1067410" y="13716"/>
                </a:cubicBezTo>
                <a:cubicBezTo>
                  <a:pt x="919754" y="-5847"/>
                  <a:pt x="800465" y="-1492"/>
                  <a:pt x="549250" y="13716"/>
                </a:cubicBezTo>
                <a:cubicBezTo>
                  <a:pt x="298035" y="28924"/>
                  <a:pt x="158868" y="18197"/>
                  <a:pt x="0" y="13716"/>
                </a:cubicBezTo>
                <a:cubicBezTo>
                  <a:pt x="488" y="8630"/>
                  <a:pt x="480" y="6612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232" y="4157"/>
                  <a:pt x="1554673" y="7559"/>
                  <a:pt x="1554480" y="13716"/>
                </a:cubicBezTo>
                <a:cubicBezTo>
                  <a:pt x="1336087" y="7600"/>
                  <a:pt x="1310024" y="15187"/>
                  <a:pt x="1067410" y="13716"/>
                </a:cubicBezTo>
                <a:cubicBezTo>
                  <a:pt x="824796" y="12246"/>
                  <a:pt x="787902" y="30075"/>
                  <a:pt x="518160" y="13716"/>
                </a:cubicBezTo>
                <a:cubicBezTo>
                  <a:pt x="248418" y="-2643"/>
                  <a:pt x="133160" y="4633"/>
                  <a:pt x="0" y="13716"/>
                </a:cubicBezTo>
                <a:cubicBezTo>
                  <a:pt x="43" y="9160"/>
                  <a:pt x="-111" y="48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72973-D189-A3C4-29D5-A32E1B7A0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5947" y="457200"/>
            <a:ext cx="4505706" cy="192938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US" sz="1900" b="0">
              <a:effectLst/>
              <a:latin typeface="Menlo" panose="020B0609030804020204" pitchFamily="49" charset="0"/>
            </a:endParaRPr>
          </a:p>
          <a:p>
            <a:endParaRPr lang="en-US" sz="1900"/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32EE7AB-13FC-964C-8D76-64AF575B10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758" y="3426691"/>
            <a:ext cx="4101084" cy="1896750"/>
          </a:xfrm>
          <a:prstGeom prst="rect">
            <a:avLst/>
          </a:prstGeom>
        </p:spPr>
      </p:pic>
      <p:pic>
        <p:nvPicPr>
          <p:cNvPr id="6" name="Content Placeholder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F446A1F1-309F-5539-F9F9-4997F780DD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0872" y="3545686"/>
            <a:ext cx="4101084" cy="1794223"/>
          </a:xfrm>
          <a:prstGeom prst="rect">
            <a:avLst/>
          </a:prstGeom>
        </p:spPr>
      </p:pic>
      <p:pic>
        <p:nvPicPr>
          <p:cNvPr id="4" name="Audio Recording Dec 18, 2025 at 2:09:53 PM">
            <a:hlinkClick r:id="" action="ppaction://media"/>
            <a:extLst>
              <a:ext uri="{FF2B5EF4-FFF2-40B4-BE49-F238E27FC236}">
                <a16:creationId xmlns:a16="http://schemas.microsoft.com/office/drawing/2014/main" id="{5C9F815F-3264-2632-0BE4-047255C2CEF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111122" y="5438081"/>
            <a:ext cx="812800" cy="8128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pic>
    </p:spTree>
    <p:extLst>
      <p:ext uri="{BB962C8B-B14F-4D97-AF65-F5344CB8AC3E}">
        <p14:creationId xmlns:p14="http://schemas.microsoft.com/office/powerpoint/2010/main" val="387182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321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3B2ED6-2655-162E-C359-F12DB14DD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161" y="639193"/>
            <a:ext cx="2678858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1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Key Python code segments</a:t>
            </a:r>
            <a:endParaRPr lang="en-US" sz="48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4409267"/>
            <a:ext cx="2441321" cy="18288"/>
          </a:xfrm>
          <a:custGeom>
            <a:avLst/>
            <a:gdLst>
              <a:gd name="connsiteX0" fmla="*/ 0 w 2441321"/>
              <a:gd name="connsiteY0" fmla="*/ 0 h 18288"/>
              <a:gd name="connsiteX1" fmla="*/ 585917 w 2441321"/>
              <a:gd name="connsiteY1" fmla="*/ 0 h 18288"/>
              <a:gd name="connsiteX2" fmla="*/ 1196247 w 2441321"/>
              <a:gd name="connsiteY2" fmla="*/ 0 h 18288"/>
              <a:gd name="connsiteX3" fmla="*/ 1806578 w 2441321"/>
              <a:gd name="connsiteY3" fmla="*/ 0 h 18288"/>
              <a:gd name="connsiteX4" fmla="*/ 2441321 w 2441321"/>
              <a:gd name="connsiteY4" fmla="*/ 0 h 18288"/>
              <a:gd name="connsiteX5" fmla="*/ 2441321 w 2441321"/>
              <a:gd name="connsiteY5" fmla="*/ 18288 h 18288"/>
              <a:gd name="connsiteX6" fmla="*/ 1830991 w 2441321"/>
              <a:gd name="connsiteY6" fmla="*/ 18288 h 18288"/>
              <a:gd name="connsiteX7" fmla="*/ 1269487 w 2441321"/>
              <a:gd name="connsiteY7" fmla="*/ 18288 h 18288"/>
              <a:gd name="connsiteX8" fmla="*/ 707983 w 2441321"/>
              <a:gd name="connsiteY8" fmla="*/ 18288 h 18288"/>
              <a:gd name="connsiteX9" fmla="*/ 0 w 2441321"/>
              <a:gd name="connsiteY9" fmla="*/ 18288 h 18288"/>
              <a:gd name="connsiteX10" fmla="*/ 0 w 2441321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832130F-76C4-7081-C95C-A9BA7A4B81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3490722" y="2221467"/>
            <a:ext cx="5410962" cy="2353768"/>
          </a:xfrm>
          <a:prstGeom prst="rect">
            <a:avLst/>
          </a:prstGeom>
        </p:spPr>
      </p:pic>
      <p:pic>
        <p:nvPicPr>
          <p:cNvPr id="3" name="Audio Recording Dec 18, 2025 at 2:11:44 PM">
            <a:hlinkClick r:id="" action="ppaction://media"/>
            <a:extLst>
              <a:ext uri="{FF2B5EF4-FFF2-40B4-BE49-F238E27FC236}">
                <a16:creationId xmlns:a16="http://schemas.microsoft.com/office/drawing/2014/main" id="{36341A15-DDED-0BF4-A264-ED36733151D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084322" y="4947691"/>
            <a:ext cx="812800" cy="8128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pic>
    </p:spTree>
    <p:extLst>
      <p:ext uri="{BB962C8B-B14F-4D97-AF65-F5344CB8AC3E}">
        <p14:creationId xmlns:p14="http://schemas.microsoft.com/office/powerpoint/2010/main" val="1200406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18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160" y="457200"/>
            <a:ext cx="818223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/>
              <a:t>Visualizations</a:t>
            </a:r>
            <a:br>
              <a:rPr lang="en-US"/>
            </a:br>
            <a:r>
              <a:rPr lang="en-US"/>
              <a:t>(</a:t>
            </a:r>
            <a:r>
              <a:rPr lang="en-US" b="1"/>
              <a:t>B</a:t>
            </a:r>
            <a:r>
              <a:rPr lang="en-US" b="1">
                <a:effectLst/>
              </a:rPr>
              <a:t>ar chart</a:t>
            </a:r>
            <a:r>
              <a:rPr lang="en-US">
                <a:effectLst/>
              </a:rPr>
              <a:t> </a:t>
            </a:r>
            <a:r>
              <a:rPr lang="en-US"/>
              <a:t>)</a:t>
            </a:r>
          </a:p>
        </p:txBody>
      </p:sp>
      <p:sp>
        <p:nvSpPr>
          <p:cNvPr id="23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37560" y="1850683"/>
            <a:ext cx="2468880" cy="18288"/>
          </a:xfrm>
          <a:custGeom>
            <a:avLst/>
            <a:gdLst>
              <a:gd name="connsiteX0" fmla="*/ 0 w 2468880"/>
              <a:gd name="connsiteY0" fmla="*/ 0 h 18288"/>
              <a:gd name="connsiteX1" fmla="*/ 592531 w 2468880"/>
              <a:gd name="connsiteY1" fmla="*/ 0 h 18288"/>
              <a:gd name="connsiteX2" fmla="*/ 1160374 w 2468880"/>
              <a:gd name="connsiteY2" fmla="*/ 0 h 18288"/>
              <a:gd name="connsiteX3" fmla="*/ 1728216 w 2468880"/>
              <a:gd name="connsiteY3" fmla="*/ 0 h 18288"/>
              <a:gd name="connsiteX4" fmla="*/ 2468880 w 2468880"/>
              <a:gd name="connsiteY4" fmla="*/ 0 h 18288"/>
              <a:gd name="connsiteX5" fmla="*/ 2468880 w 2468880"/>
              <a:gd name="connsiteY5" fmla="*/ 18288 h 18288"/>
              <a:gd name="connsiteX6" fmla="*/ 1802282 w 2468880"/>
              <a:gd name="connsiteY6" fmla="*/ 18288 h 18288"/>
              <a:gd name="connsiteX7" fmla="*/ 1209751 w 2468880"/>
              <a:gd name="connsiteY7" fmla="*/ 18288 h 18288"/>
              <a:gd name="connsiteX8" fmla="*/ 641909 w 2468880"/>
              <a:gd name="connsiteY8" fmla="*/ 18288 h 18288"/>
              <a:gd name="connsiteX9" fmla="*/ 0 w 2468880"/>
              <a:gd name="connsiteY9" fmla="*/ 18288 h 18288"/>
              <a:gd name="connsiteX10" fmla="*/ 0 w 2468880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68880" h="18288" fill="none" extrusionOk="0">
                <a:moveTo>
                  <a:pt x="0" y="0"/>
                </a:moveTo>
                <a:cubicBezTo>
                  <a:pt x="171523" y="-1510"/>
                  <a:pt x="416079" y="20036"/>
                  <a:pt x="592531" y="0"/>
                </a:cubicBezTo>
                <a:cubicBezTo>
                  <a:pt x="768983" y="-20036"/>
                  <a:pt x="878305" y="13110"/>
                  <a:pt x="1160374" y="0"/>
                </a:cubicBezTo>
                <a:cubicBezTo>
                  <a:pt x="1442443" y="-13110"/>
                  <a:pt x="1612108" y="24695"/>
                  <a:pt x="1728216" y="0"/>
                </a:cubicBezTo>
                <a:cubicBezTo>
                  <a:pt x="1844324" y="-24695"/>
                  <a:pt x="2271040" y="20667"/>
                  <a:pt x="2468880" y="0"/>
                </a:cubicBezTo>
                <a:cubicBezTo>
                  <a:pt x="2468302" y="4771"/>
                  <a:pt x="2469633" y="12323"/>
                  <a:pt x="2468880" y="18288"/>
                </a:cubicBezTo>
                <a:cubicBezTo>
                  <a:pt x="2229297" y="-14659"/>
                  <a:pt x="2066775" y="30253"/>
                  <a:pt x="1802282" y="18288"/>
                </a:cubicBezTo>
                <a:cubicBezTo>
                  <a:pt x="1537789" y="6323"/>
                  <a:pt x="1379930" y="22266"/>
                  <a:pt x="1209751" y="18288"/>
                </a:cubicBezTo>
                <a:cubicBezTo>
                  <a:pt x="1039572" y="14310"/>
                  <a:pt x="837025" y="12850"/>
                  <a:pt x="641909" y="18288"/>
                </a:cubicBezTo>
                <a:cubicBezTo>
                  <a:pt x="446793" y="23726"/>
                  <a:pt x="170561" y="18472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w="2468880" h="18288" stroke="0" extrusionOk="0">
                <a:moveTo>
                  <a:pt x="0" y="0"/>
                </a:moveTo>
                <a:cubicBezTo>
                  <a:pt x="190931" y="24910"/>
                  <a:pt x="333688" y="11559"/>
                  <a:pt x="567842" y="0"/>
                </a:cubicBezTo>
                <a:cubicBezTo>
                  <a:pt x="801996" y="-11559"/>
                  <a:pt x="939971" y="-5677"/>
                  <a:pt x="1234440" y="0"/>
                </a:cubicBezTo>
                <a:cubicBezTo>
                  <a:pt x="1528909" y="5677"/>
                  <a:pt x="1658539" y="5184"/>
                  <a:pt x="1777594" y="0"/>
                </a:cubicBezTo>
                <a:cubicBezTo>
                  <a:pt x="1896649" y="-5184"/>
                  <a:pt x="2186164" y="23915"/>
                  <a:pt x="2468880" y="0"/>
                </a:cubicBezTo>
                <a:cubicBezTo>
                  <a:pt x="2468266" y="8857"/>
                  <a:pt x="2469384" y="13619"/>
                  <a:pt x="2468880" y="18288"/>
                </a:cubicBezTo>
                <a:cubicBezTo>
                  <a:pt x="2271330" y="36599"/>
                  <a:pt x="2001027" y="31554"/>
                  <a:pt x="1876349" y="18288"/>
                </a:cubicBezTo>
                <a:cubicBezTo>
                  <a:pt x="1751671" y="5022"/>
                  <a:pt x="1364652" y="15063"/>
                  <a:pt x="1209751" y="18288"/>
                </a:cubicBezTo>
                <a:cubicBezTo>
                  <a:pt x="1054850" y="21513"/>
                  <a:pt x="748438" y="20074"/>
                  <a:pt x="617220" y="18288"/>
                </a:cubicBezTo>
                <a:cubicBezTo>
                  <a:pt x="486002" y="16502"/>
                  <a:pt x="237432" y="27200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Content Placeholder 8" descr="A graph of a bar chart&#10;&#10;AI-generated content may be incorrect.">
            <a:extLst>
              <a:ext uri="{FF2B5EF4-FFF2-40B4-BE49-F238E27FC236}">
                <a16:creationId xmlns:a16="http://schemas.microsoft.com/office/drawing/2014/main" id="{978BB5FC-3F94-A29E-FF04-6BF342AF3B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240030" y="3040149"/>
            <a:ext cx="4210812" cy="2810717"/>
          </a:xfrm>
          <a:prstGeom prst="rect">
            <a:avLst/>
          </a:prstGeom>
        </p:spPr>
      </p:pic>
      <p:pic>
        <p:nvPicPr>
          <p:cNvPr id="3" name="Content Placeholder 4" descr="A screenshot of a screen&#10;&#10;AI-generated content may be incorrect.">
            <a:extLst>
              <a:ext uri="{FF2B5EF4-FFF2-40B4-BE49-F238E27FC236}">
                <a16:creationId xmlns:a16="http://schemas.microsoft.com/office/drawing/2014/main" id="{510A0CCA-FAF1-FA8E-E2DB-2500457AF8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0872" y="3845468"/>
            <a:ext cx="4210812" cy="12000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564AB6F-D8AF-6B51-B4E2-B3B86EB79DE6}"/>
              </a:ext>
            </a:extLst>
          </p:cNvPr>
          <p:cNvSpPr txBox="1"/>
          <p:nvPr/>
        </p:nvSpPr>
        <p:spPr>
          <a:xfrm>
            <a:off x="4690872" y="3429000"/>
            <a:ext cx="2364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effectLst/>
                <a:latin typeface="Times New Roman" panose="02020603050405020304" pitchFamily="18" charset="0"/>
              </a:rPr>
              <a:t>Analysis and Findings</a:t>
            </a:r>
            <a:endParaRPr lang="en-US" dirty="0"/>
          </a:p>
        </p:txBody>
      </p:sp>
      <p:pic>
        <p:nvPicPr>
          <p:cNvPr id="4" name="Audio Recording Dec 18, 2025 at 2:13:50 PM">
            <a:hlinkClick r:id="" action="ppaction://media"/>
            <a:extLst>
              <a:ext uri="{FF2B5EF4-FFF2-40B4-BE49-F238E27FC236}">
                <a16:creationId xmlns:a16="http://schemas.microsoft.com/office/drawing/2014/main" id="{A03DD1C5-F1B5-979F-9369-06D0EA5BDE6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690872" y="5308039"/>
            <a:ext cx="812800" cy="8128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61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160" y="439271"/>
            <a:ext cx="818223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700"/>
              <a:t>Visualizations(</a:t>
            </a:r>
            <a:r>
              <a:rPr lang="en-US" sz="5700" b="1"/>
              <a:t>H</a:t>
            </a:r>
            <a:r>
              <a:rPr lang="en-US" sz="5700" b="1">
                <a:effectLst/>
              </a:rPr>
              <a:t>istogram</a:t>
            </a:r>
            <a:r>
              <a:rPr lang="en-US" sz="5700">
                <a:effectLst/>
              </a:rPr>
              <a:t> </a:t>
            </a:r>
            <a:r>
              <a:rPr lang="en-US" sz="5700"/>
              <a:t>)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37560" y="1850683"/>
            <a:ext cx="2468880" cy="18288"/>
          </a:xfrm>
          <a:custGeom>
            <a:avLst/>
            <a:gdLst>
              <a:gd name="connsiteX0" fmla="*/ 0 w 2468880"/>
              <a:gd name="connsiteY0" fmla="*/ 0 h 18288"/>
              <a:gd name="connsiteX1" fmla="*/ 592531 w 2468880"/>
              <a:gd name="connsiteY1" fmla="*/ 0 h 18288"/>
              <a:gd name="connsiteX2" fmla="*/ 1160374 w 2468880"/>
              <a:gd name="connsiteY2" fmla="*/ 0 h 18288"/>
              <a:gd name="connsiteX3" fmla="*/ 1728216 w 2468880"/>
              <a:gd name="connsiteY3" fmla="*/ 0 h 18288"/>
              <a:gd name="connsiteX4" fmla="*/ 2468880 w 2468880"/>
              <a:gd name="connsiteY4" fmla="*/ 0 h 18288"/>
              <a:gd name="connsiteX5" fmla="*/ 2468880 w 2468880"/>
              <a:gd name="connsiteY5" fmla="*/ 18288 h 18288"/>
              <a:gd name="connsiteX6" fmla="*/ 1802282 w 2468880"/>
              <a:gd name="connsiteY6" fmla="*/ 18288 h 18288"/>
              <a:gd name="connsiteX7" fmla="*/ 1209751 w 2468880"/>
              <a:gd name="connsiteY7" fmla="*/ 18288 h 18288"/>
              <a:gd name="connsiteX8" fmla="*/ 641909 w 2468880"/>
              <a:gd name="connsiteY8" fmla="*/ 18288 h 18288"/>
              <a:gd name="connsiteX9" fmla="*/ 0 w 2468880"/>
              <a:gd name="connsiteY9" fmla="*/ 18288 h 18288"/>
              <a:gd name="connsiteX10" fmla="*/ 0 w 2468880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68880" h="18288" fill="none" extrusionOk="0">
                <a:moveTo>
                  <a:pt x="0" y="0"/>
                </a:moveTo>
                <a:cubicBezTo>
                  <a:pt x="171523" y="-1510"/>
                  <a:pt x="416079" y="20036"/>
                  <a:pt x="592531" y="0"/>
                </a:cubicBezTo>
                <a:cubicBezTo>
                  <a:pt x="768983" y="-20036"/>
                  <a:pt x="878305" y="13110"/>
                  <a:pt x="1160374" y="0"/>
                </a:cubicBezTo>
                <a:cubicBezTo>
                  <a:pt x="1442443" y="-13110"/>
                  <a:pt x="1612108" y="24695"/>
                  <a:pt x="1728216" y="0"/>
                </a:cubicBezTo>
                <a:cubicBezTo>
                  <a:pt x="1844324" y="-24695"/>
                  <a:pt x="2271040" y="20667"/>
                  <a:pt x="2468880" y="0"/>
                </a:cubicBezTo>
                <a:cubicBezTo>
                  <a:pt x="2468302" y="4771"/>
                  <a:pt x="2469633" y="12323"/>
                  <a:pt x="2468880" y="18288"/>
                </a:cubicBezTo>
                <a:cubicBezTo>
                  <a:pt x="2229297" y="-14659"/>
                  <a:pt x="2066775" y="30253"/>
                  <a:pt x="1802282" y="18288"/>
                </a:cubicBezTo>
                <a:cubicBezTo>
                  <a:pt x="1537789" y="6323"/>
                  <a:pt x="1379930" y="22266"/>
                  <a:pt x="1209751" y="18288"/>
                </a:cubicBezTo>
                <a:cubicBezTo>
                  <a:pt x="1039572" y="14310"/>
                  <a:pt x="837025" y="12850"/>
                  <a:pt x="641909" y="18288"/>
                </a:cubicBezTo>
                <a:cubicBezTo>
                  <a:pt x="446793" y="23726"/>
                  <a:pt x="170561" y="18472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w="2468880" h="18288" stroke="0" extrusionOk="0">
                <a:moveTo>
                  <a:pt x="0" y="0"/>
                </a:moveTo>
                <a:cubicBezTo>
                  <a:pt x="190931" y="24910"/>
                  <a:pt x="333688" y="11559"/>
                  <a:pt x="567842" y="0"/>
                </a:cubicBezTo>
                <a:cubicBezTo>
                  <a:pt x="801996" y="-11559"/>
                  <a:pt x="939971" y="-5677"/>
                  <a:pt x="1234440" y="0"/>
                </a:cubicBezTo>
                <a:cubicBezTo>
                  <a:pt x="1528909" y="5677"/>
                  <a:pt x="1658539" y="5184"/>
                  <a:pt x="1777594" y="0"/>
                </a:cubicBezTo>
                <a:cubicBezTo>
                  <a:pt x="1896649" y="-5184"/>
                  <a:pt x="2186164" y="23915"/>
                  <a:pt x="2468880" y="0"/>
                </a:cubicBezTo>
                <a:cubicBezTo>
                  <a:pt x="2468266" y="8857"/>
                  <a:pt x="2469384" y="13619"/>
                  <a:pt x="2468880" y="18288"/>
                </a:cubicBezTo>
                <a:cubicBezTo>
                  <a:pt x="2271330" y="36599"/>
                  <a:pt x="2001027" y="31554"/>
                  <a:pt x="1876349" y="18288"/>
                </a:cubicBezTo>
                <a:cubicBezTo>
                  <a:pt x="1751671" y="5022"/>
                  <a:pt x="1364652" y="15063"/>
                  <a:pt x="1209751" y="18288"/>
                </a:cubicBezTo>
                <a:cubicBezTo>
                  <a:pt x="1054850" y="21513"/>
                  <a:pt x="748438" y="20074"/>
                  <a:pt x="617220" y="18288"/>
                </a:cubicBezTo>
                <a:cubicBezTo>
                  <a:pt x="486002" y="16502"/>
                  <a:pt x="237432" y="27200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FDCBB8E-685E-CC51-F824-AD955A6D8D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030" y="2682231"/>
            <a:ext cx="4210812" cy="3526553"/>
          </a:xfrm>
          <a:prstGeom prst="rect">
            <a:avLst/>
          </a:prstGeom>
        </p:spPr>
      </p:pic>
      <p:pic>
        <p:nvPicPr>
          <p:cNvPr id="5" name="Content Placeholder 4" descr="A graph of a number of blue bars&#10;&#10;AI-generated content may be incorrect.">
            <a:extLst>
              <a:ext uri="{FF2B5EF4-FFF2-40B4-BE49-F238E27FC236}">
                <a16:creationId xmlns:a16="http://schemas.microsoft.com/office/drawing/2014/main" id="{1BDC6297-A6E6-7392-68C0-02DC2B0F21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4690872" y="3111700"/>
            <a:ext cx="4210812" cy="26317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C50FDDD-30EA-18D3-1AC6-5D9FF0BE30F2}"/>
              </a:ext>
            </a:extLst>
          </p:cNvPr>
          <p:cNvSpPr txBox="1"/>
          <p:nvPr/>
        </p:nvSpPr>
        <p:spPr>
          <a:xfrm>
            <a:off x="4690872" y="2497565"/>
            <a:ext cx="2364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effectLst/>
                <a:latin typeface="Times New Roman" panose="02020603050405020304" pitchFamily="18" charset="0"/>
              </a:rPr>
              <a:t>Analysis and Findings</a:t>
            </a:r>
            <a:endParaRPr lang="en-US" dirty="0"/>
          </a:p>
        </p:txBody>
      </p:sp>
      <p:pic>
        <p:nvPicPr>
          <p:cNvPr id="4" name="Audio Recording Dec 18, 2025 at 2:21:37 PM">
            <a:hlinkClick r:id="" action="ppaction://media"/>
            <a:extLst>
              <a:ext uri="{FF2B5EF4-FFF2-40B4-BE49-F238E27FC236}">
                <a16:creationId xmlns:a16="http://schemas.microsoft.com/office/drawing/2014/main" id="{28F613DD-29D8-C342-F8FC-7492E0812F3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690872" y="5487929"/>
            <a:ext cx="812800" cy="8128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594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>
            <a:normAutofit/>
          </a:bodyPr>
          <a:lstStyle/>
          <a:p>
            <a:r>
              <a:rPr lang="en-US" sz="4000"/>
              <a:t>Business &amp; Practical Implications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onnsiteX0" fmla="*/ 0 w 4480560"/>
              <a:gd name="connsiteY0" fmla="*/ 0 h 13716"/>
              <a:gd name="connsiteX1" fmla="*/ 595274 w 4480560"/>
              <a:gd name="connsiteY1" fmla="*/ 0 h 13716"/>
              <a:gd name="connsiteX2" fmla="*/ 1100938 w 4480560"/>
              <a:gd name="connsiteY2" fmla="*/ 0 h 13716"/>
              <a:gd name="connsiteX3" fmla="*/ 1651406 w 4480560"/>
              <a:gd name="connsiteY3" fmla="*/ 0 h 13716"/>
              <a:gd name="connsiteX4" fmla="*/ 2336292 w 4480560"/>
              <a:gd name="connsiteY4" fmla="*/ 0 h 13716"/>
              <a:gd name="connsiteX5" fmla="*/ 2931566 w 4480560"/>
              <a:gd name="connsiteY5" fmla="*/ 0 h 13716"/>
              <a:gd name="connsiteX6" fmla="*/ 3482035 w 4480560"/>
              <a:gd name="connsiteY6" fmla="*/ 0 h 13716"/>
              <a:gd name="connsiteX7" fmla="*/ 4480560 w 4480560"/>
              <a:gd name="connsiteY7" fmla="*/ 0 h 13716"/>
              <a:gd name="connsiteX8" fmla="*/ 4480560 w 4480560"/>
              <a:gd name="connsiteY8" fmla="*/ 13716 h 13716"/>
              <a:gd name="connsiteX9" fmla="*/ 3840480 w 4480560"/>
              <a:gd name="connsiteY9" fmla="*/ 13716 h 13716"/>
              <a:gd name="connsiteX10" fmla="*/ 3290011 w 4480560"/>
              <a:gd name="connsiteY10" fmla="*/ 13716 h 13716"/>
              <a:gd name="connsiteX11" fmla="*/ 2560320 w 4480560"/>
              <a:gd name="connsiteY11" fmla="*/ 13716 h 13716"/>
              <a:gd name="connsiteX12" fmla="*/ 1965046 w 4480560"/>
              <a:gd name="connsiteY12" fmla="*/ 13716 h 13716"/>
              <a:gd name="connsiteX13" fmla="*/ 1459382 w 4480560"/>
              <a:gd name="connsiteY13" fmla="*/ 13716 h 13716"/>
              <a:gd name="connsiteX14" fmla="*/ 774497 w 4480560"/>
              <a:gd name="connsiteY14" fmla="*/ 13716 h 13716"/>
              <a:gd name="connsiteX15" fmla="*/ 0 w 4480560"/>
              <a:gd name="connsiteY15" fmla="*/ 13716 h 13716"/>
              <a:gd name="connsiteX16" fmla="*/ 0 w 4480560"/>
              <a:gd name="connsiteY16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4813" y="552091"/>
            <a:ext cx="4668251" cy="5431536"/>
          </a:xfrm>
        </p:spPr>
        <p:txBody>
          <a:bodyPr anchor="ctr">
            <a:normAutofit/>
          </a:bodyPr>
          <a:lstStyle/>
          <a:p>
            <a:r>
              <a:rPr lang="en-US" sz="1900"/>
              <a:t>Policymakers can target low-scoring areas (Bronx)</a:t>
            </a:r>
          </a:p>
          <a:p>
            <a:r>
              <a:rPr lang="en-US" sz="1900"/>
              <a:t>Businesses can identify investment opportunities</a:t>
            </a:r>
          </a:p>
          <a:p>
            <a:r>
              <a:rPr lang="en-US" sz="1900"/>
              <a:t>Community organizations can prioritize outreach</a:t>
            </a:r>
          </a:p>
        </p:txBody>
      </p:sp>
      <p:pic>
        <p:nvPicPr>
          <p:cNvPr id="4" name="Audio Recording Dec 18, 2025 at 2:23:24 PM">
            <a:hlinkClick r:id="" action="ppaction://media"/>
            <a:extLst>
              <a:ext uri="{FF2B5EF4-FFF2-40B4-BE49-F238E27FC236}">
                <a16:creationId xmlns:a16="http://schemas.microsoft.com/office/drawing/2014/main" id="{00869DF0-9F61-6E8A-777B-B86D54AD244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844813" y="4427653"/>
            <a:ext cx="812800" cy="8128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762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000"/>
              <a:t>Limitations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1BDB9C0-7DC7-AB5A-E46D-F7F9AA2B69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7603764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3" name="Audio Recording Dec 18, 2025 at 2:24:20 PM">
            <a:hlinkClick r:id="" action="ppaction://media"/>
            <a:extLst>
              <a:ext uri="{FF2B5EF4-FFF2-40B4-BE49-F238E27FC236}">
                <a16:creationId xmlns:a16="http://schemas.microsoft.com/office/drawing/2014/main" id="{DFAE909A-08C7-60C8-3051-01A35654978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4009483" y="5007517"/>
            <a:ext cx="812800" cy="8128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60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 dirty="0"/>
              <a:t>Conclusion &amp; Next Steps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n-US" sz="1900" dirty="0"/>
              <a:t>Significant financial health disparities across NYC boroughs</a:t>
            </a:r>
          </a:p>
          <a:p>
            <a:r>
              <a:rPr lang="en-US" sz="1900" dirty="0"/>
              <a:t>High-income areas perform better financially</a:t>
            </a:r>
          </a:p>
          <a:p>
            <a:endParaRPr lang="en-US" sz="1900" dirty="0"/>
          </a:p>
          <a:p>
            <a:pPr marL="0" indent="0">
              <a:buNone/>
            </a:pPr>
            <a:r>
              <a:rPr lang="en-US" sz="1900" dirty="0"/>
              <a:t>Next Steps:</a:t>
            </a:r>
          </a:p>
          <a:p>
            <a:r>
              <a:rPr lang="en-US" sz="1900" dirty="0"/>
              <a:t>Use multi-year datasets</a:t>
            </a:r>
          </a:p>
          <a:p>
            <a:r>
              <a:rPr lang="en-US" sz="1900" dirty="0"/>
              <a:t>Add external variables</a:t>
            </a:r>
          </a:p>
        </p:txBody>
      </p:sp>
      <p:pic>
        <p:nvPicPr>
          <p:cNvPr id="4" name="Audio Recording Dec 18, 2025 at 2:27:41 PM">
            <a:hlinkClick r:id="" action="ppaction://media"/>
            <a:extLst>
              <a:ext uri="{FF2B5EF4-FFF2-40B4-BE49-F238E27FC236}">
                <a16:creationId xmlns:a16="http://schemas.microsoft.com/office/drawing/2014/main" id="{11ADEDA1-9F55-4BC2-9B82-DFBAA60035D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377473" y="4367827"/>
            <a:ext cx="812800" cy="8128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511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4C051A-24EE-981C-1A83-0EA97EE23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3321" y="329184"/>
            <a:ext cx="4688333" cy="1783080"/>
          </a:xfrm>
        </p:spPr>
        <p:txBody>
          <a:bodyPr anchor="b">
            <a:normAutofit/>
          </a:bodyPr>
          <a:lstStyle/>
          <a:p>
            <a:r>
              <a:rPr lang="en-US" sz="4700"/>
              <a:t>Thank you</a:t>
            </a:r>
          </a:p>
        </p:txBody>
      </p:sp>
      <p:pic>
        <p:nvPicPr>
          <p:cNvPr id="5" name="Picture 4" descr="Wood human figure">
            <a:extLst>
              <a:ext uri="{FF2B5EF4-FFF2-40B4-BE49-F238E27FC236}">
                <a16:creationId xmlns:a16="http://schemas.microsoft.com/office/drawing/2014/main" id="{684153A1-832E-4345-4F5A-C084363045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14" r="58287" b="-1"/>
          <a:stretch>
            <a:fillRect/>
          </a:stretch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3321" y="2374947"/>
            <a:ext cx="3182692" cy="18288"/>
          </a:xfrm>
          <a:custGeom>
            <a:avLst/>
            <a:gdLst>
              <a:gd name="connsiteX0" fmla="*/ 0 w 3182692"/>
              <a:gd name="connsiteY0" fmla="*/ 0 h 18288"/>
              <a:gd name="connsiteX1" fmla="*/ 636538 w 3182692"/>
              <a:gd name="connsiteY1" fmla="*/ 0 h 18288"/>
              <a:gd name="connsiteX2" fmla="*/ 1273077 w 3182692"/>
              <a:gd name="connsiteY2" fmla="*/ 0 h 18288"/>
              <a:gd name="connsiteX3" fmla="*/ 1909615 w 3182692"/>
              <a:gd name="connsiteY3" fmla="*/ 0 h 18288"/>
              <a:gd name="connsiteX4" fmla="*/ 2482500 w 3182692"/>
              <a:gd name="connsiteY4" fmla="*/ 0 h 18288"/>
              <a:gd name="connsiteX5" fmla="*/ 3182692 w 3182692"/>
              <a:gd name="connsiteY5" fmla="*/ 0 h 18288"/>
              <a:gd name="connsiteX6" fmla="*/ 3182692 w 3182692"/>
              <a:gd name="connsiteY6" fmla="*/ 18288 h 18288"/>
              <a:gd name="connsiteX7" fmla="*/ 2609807 w 3182692"/>
              <a:gd name="connsiteY7" fmla="*/ 18288 h 18288"/>
              <a:gd name="connsiteX8" fmla="*/ 2068750 w 3182692"/>
              <a:gd name="connsiteY8" fmla="*/ 18288 h 18288"/>
              <a:gd name="connsiteX9" fmla="*/ 1432211 w 3182692"/>
              <a:gd name="connsiteY9" fmla="*/ 18288 h 18288"/>
              <a:gd name="connsiteX10" fmla="*/ 859327 w 3182692"/>
              <a:gd name="connsiteY10" fmla="*/ 18288 h 18288"/>
              <a:gd name="connsiteX11" fmla="*/ 0 w 3182692"/>
              <a:gd name="connsiteY11" fmla="*/ 18288 h 18288"/>
              <a:gd name="connsiteX12" fmla="*/ 0 w 3182692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07727" y="-28"/>
                  <a:pt x="1273077" y="0"/>
                </a:cubicBezTo>
                <a:cubicBezTo>
                  <a:pt x="1538427" y="28"/>
                  <a:pt x="1698640" y="-12775"/>
                  <a:pt x="1909615" y="0"/>
                </a:cubicBezTo>
                <a:cubicBezTo>
                  <a:pt x="2120590" y="12775"/>
                  <a:pt x="2210293" y="-21823"/>
                  <a:pt x="2482500" y="0"/>
                </a:cubicBezTo>
                <a:cubicBezTo>
                  <a:pt x="2754708" y="21823"/>
                  <a:pt x="3004133" y="-28750"/>
                  <a:pt x="3182692" y="0"/>
                </a:cubicBezTo>
                <a:cubicBezTo>
                  <a:pt x="3183134" y="4516"/>
                  <a:pt x="3181865" y="12266"/>
                  <a:pt x="3182692" y="18288"/>
                </a:cubicBezTo>
                <a:cubicBezTo>
                  <a:pt x="2947402" y="22440"/>
                  <a:pt x="2876226" y="27191"/>
                  <a:pt x="2609807" y="18288"/>
                </a:cubicBezTo>
                <a:cubicBezTo>
                  <a:pt x="2343389" y="9385"/>
                  <a:pt x="2326689" y="25579"/>
                  <a:pt x="2068750" y="18288"/>
                </a:cubicBezTo>
                <a:cubicBezTo>
                  <a:pt x="1810811" y="10997"/>
                  <a:pt x="1713836" y="48219"/>
                  <a:pt x="1432211" y="18288"/>
                </a:cubicBezTo>
                <a:cubicBezTo>
                  <a:pt x="1150586" y="-11643"/>
                  <a:pt x="982765" y="3747"/>
                  <a:pt x="859327" y="18288"/>
                </a:cubicBezTo>
                <a:cubicBezTo>
                  <a:pt x="735889" y="32829"/>
                  <a:pt x="254183" y="35231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43108" y="-22426"/>
                  <a:pt x="387854" y="22949"/>
                  <a:pt x="572885" y="0"/>
                </a:cubicBezTo>
                <a:cubicBezTo>
                  <a:pt x="757916" y="-22949"/>
                  <a:pt x="923707" y="6797"/>
                  <a:pt x="1113942" y="0"/>
                </a:cubicBezTo>
                <a:cubicBezTo>
                  <a:pt x="1304177" y="-6797"/>
                  <a:pt x="1495991" y="20627"/>
                  <a:pt x="1686827" y="0"/>
                </a:cubicBezTo>
                <a:cubicBezTo>
                  <a:pt x="1877663" y="-20627"/>
                  <a:pt x="2170182" y="-20672"/>
                  <a:pt x="2323365" y="0"/>
                </a:cubicBezTo>
                <a:cubicBezTo>
                  <a:pt x="2476548" y="20672"/>
                  <a:pt x="2919164" y="6097"/>
                  <a:pt x="3182692" y="0"/>
                </a:cubicBezTo>
                <a:cubicBezTo>
                  <a:pt x="3183269" y="4624"/>
                  <a:pt x="3183511" y="11191"/>
                  <a:pt x="3182692" y="18288"/>
                </a:cubicBezTo>
                <a:cubicBezTo>
                  <a:pt x="3026065" y="-10849"/>
                  <a:pt x="2775006" y="23067"/>
                  <a:pt x="2546154" y="18288"/>
                </a:cubicBezTo>
                <a:cubicBezTo>
                  <a:pt x="2317302" y="13509"/>
                  <a:pt x="2168173" y="-8513"/>
                  <a:pt x="1845961" y="18288"/>
                </a:cubicBezTo>
                <a:cubicBezTo>
                  <a:pt x="1523749" y="45089"/>
                  <a:pt x="1450078" y="-844"/>
                  <a:pt x="1304904" y="18288"/>
                </a:cubicBezTo>
                <a:cubicBezTo>
                  <a:pt x="1159730" y="37420"/>
                  <a:pt x="942635" y="-10021"/>
                  <a:pt x="604711" y="18288"/>
                </a:cubicBezTo>
                <a:cubicBezTo>
                  <a:pt x="266787" y="46597"/>
                  <a:pt x="141927" y="-8395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2560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3BFFC-E044-1F58-8A62-422BDCB16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References</a:t>
            </a:r>
            <a:br>
              <a:rPr lang="en-US" sz="4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7F2CE-304C-C23E-0A27-F62AE40762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>
              <a:lnSpc>
                <a:spcPct val="200000"/>
              </a:lnSpc>
              <a:spcAft>
                <a:spcPts val="800"/>
              </a:spcAft>
              <a:buNone/>
            </a:pP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Consumer. “Neighborhood Financial Health Digital Mapping and Data Tool.” </a:t>
            </a:r>
            <a:r>
              <a:rPr lang="en-US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Cityofnewyork.us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2 May 2022, </a:t>
            </a:r>
            <a:r>
              <a:rPr lang="en-US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data.cityofnewyork.us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/Business/Neighborhood-Financial-Health-Digital-Mapping-and-/r3dx-pew9/</a:t>
            </a:r>
            <a:r>
              <a:rPr lang="en-US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about_data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800" i="1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https://data.cityofnewyork.us/Business/Neighborhood-Financial-Health-Digital-Mapping-and-/r3dx-pew9/about_data</a:t>
            </a:r>
            <a:endParaRPr lang="en-US" sz="1800" i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marR="0" indent="-457200">
              <a:lnSpc>
                <a:spcPct val="115000"/>
              </a:lnSpc>
              <a:buNone/>
            </a:pP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800" i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i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Visual Studio Code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. </a:t>
            </a:r>
            <a:r>
              <a:rPr lang="en-US" sz="1800" i="1" u="sng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  <a:hlinkClick r:id="rId3"/>
              </a:rPr>
              <a:t>https://code.visualstudio.com/</a:t>
            </a:r>
            <a:endParaRPr lang="en-US" sz="1800" i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28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175</TotalTime>
  <Words>286</Words>
  <Application>Microsoft Macintosh PowerPoint</Application>
  <PresentationFormat>On-screen Show (4:3)</PresentationFormat>
  <Paragraphs>47</Paragraphs>
  <Slides>15</Slides>
  <Notes>0</Notes>
  <HiddenSlides>0</HiddenSlides>
  <MMClips>13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Arial</vt:lpstr>
      <vt:lpstr>Calibri</vt:lpstr>
      <vt:lpstr>Calibri Light</vt:lpstr>
      <vt:lpstr>Menlo</vt:lpstr>
      <vt:lpstr>Times New Roman</vt:lpstr>
      <vt:lpstr>Office 2013 - 2022 Theme</vt:lpstr>
      <vt:lpstr>Analysis of NYC Neighborhood Financial &amp; Social Data</vt:lpstr>
      <vt:lpstr>Introduction</vt:lpstr>
      <vt:lpstr>Purpose </vt:lpstr>
      <vt:lpstr>Research Questions  </vt:lpstr>
      <vt:lpstr>Methodology for Analysis</vt:lpstr>
      <vt:lpstr>Key Python code segments</vt:lpstr>
      <vt:lpstr>Key Python code segments</vt:lpstr>
      <vt:lpstr>Key Python code segments</vt:lpstr>
      <vt:lpstr>Visualizations (Bar chart )</vt:lpstr>
      <vt:lpstr>Visualizations(Histogram )</vt:lpstr>
      <vt:lpstr>Business &amp; Practical Implications</vt:lpstr>
      <vt:lpstr>Limitations</vt:lpstr>
      <vt:lpstr>Conclusion &amp; Next Steps</vt:lpstr>
      <vt:lpstr>Thank you</vt:lpstr>
      <vt:lpstr>References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Bibi Sahar Ahmadi</cp:lastModifiedBy>
  <cp:revision>8</cp:revision>
  <dcterms:created xsi:type="dcterms:W3CDTF">2013-01-27T09:14:16Z</dcterms:created>
  <dcterms:modified xsi:type="dcterms:W3CDTF">2025-12-18T19:44:40Z</dcterms:modified>
  <cp:category/>
</cp:coreProperties>
</file>